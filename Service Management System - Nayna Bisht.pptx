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Muli" panose="020B0604020202020204" charset="0"/>
      <p:regular r:id="rId13"/>
    </p:embeddedFont>
    <p:embeddedFont>
      <p:font typeface="Muli Bold" panose="020B0604020202020204" charset="0"/>
      <p:regular r:id="rId14"/>
    </p:embeddedFont>
    <p:embeddedFont>
      <p:font typeface="Muli Heavy" panose="020B0604020202020204" charset="0"/>
      <p:regular r:id="rId15"/>
    </p:embeddedFont>
    <p:embeddedFont>
      <p:font typeface="Muli Semi-Bold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1" d="100"/>
          <a:sy n="51" d="100"/>
        </p:scale>
        <p:origin x="492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05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646990" y="2859325"/>
            <a:ext cx="1526842" cy="763421"/>
          </a:xfrm>
          <a:custGeom>
            <a:avLst/>
            <a:gdLst/>
            <a:ahLst/>
            <a:cxnLst/>
            <a:rect l="l" t="t" r="r" b="b"/>
            <a:pathLst>
              <a:path w="1526842" h="763421">
                <a:moveTo>
                  <a:pt x="0" y="0"/>
                </a:moveTo>
                <a:lnTo>
                  <a:pt x="1526841" y="0"/>
                </a:lnTo>
                <a:lnTo>
                  <a:pt x="1526841" y="763420"/>
                </a:lnTo>
                <a:lnTo>
                  <a:pt x="0" y="763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-10800000">
            <a:off x="8554341" y="3429092"/>
            <a:ext cx="18554862" cy="9277431"/>
          </a:xfrm>
          <a:custGeom>
            <a:avLst/>
            <a:gdLst/>
            <a:ahLst/>
            <a:cxnLst/>
            <a:rect l="l" t="t" r="r" b="b"/>
            <a:pathLst>
              <a:path w="18554862" h="9277431">
                <a:moveTo>
                  <a:pt x="0" y="0"/>
                </a:moveTo>
                <a:lnTo>
                  <a:pt x="18554863" y="0"/>
                </a:lnTo>
                <a:lnTo>
                  <a:pt x="18554863" y="9277431"/>
                </a:lnTo>
                <a:lnTo>
                  <a:pt x="0" y="927743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2569934" y="2477614"/>
            <a:ext cx="15261838" cy="2665886"/>
            <a:chOff x="0" y="0"/>
            <a:chExt cx="20349118" cy="3554514"/>
          </a:xfrm>
        </p:grpSpPr>
        <p:sp>
          <p:nvSpPr>
            <p:cNvPr id="5" name="TextBox 5"/>
            <p:cNvSpPr txBox="1"/>
            <p:nvPr/>
          </p:nvSpPr>
          <p:spPr>
            <a:xfrm>
              <a:off x="0" y="66675"/>
              <a:ext cx="20349118" cy="15546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8800"/>
                </a:lnSpc>
              </a:pPr>
              <a:r>
                <a:rPr lang="en-US" sz="8000" b="1">
                  <a:solidFill>
                    <a:srgbClr val="EFD1A9"/>
                  </a:solidFill>
                  <a:latin typeface="Muli Heavy"/>
                  <a:ea typeface="Muli Heavy"/>
                  <a:cs typeface="Muli Heavy"/>
                  <a:sym typeface="Muli Heavy"/>
                </a:rPr>
                <a:t>Service Management System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2177153"/>
              <a:ext cx="9727756" cy="137736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 spc="165">
                  <a:solidFill>
                    <a:srgbClr val="F1EEEE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MICROSERVICES-BASED HOME SERVICES APPLICATION</a:t>
              </a:r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2771648" y="7143750"/>
            <a:ext cx="4487652" cy="2114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000" b="1" spc="165">
                <a:solidFill>
                  <a:srgbClr val="F1EEEE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CAPSTONE PROJECT</a:t>
            </a:r>
          </a:p>
          <a:p>
            <a:pPr algn="l">
              <a:lnSpc>
                <a:spcPts val="4200"/>
              </a:lnSpc>
            </a:pPr>
            <a:r>
              <a:rPr lang="en-US" sz="3000" b="1" spc="165">
                <a:solidFill>
                  <a:srgbClr val="F1EEEE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CHUBB - JAVA TRACK</a:t>
            </a:r>
          </a:p>
          <a:p>
            <a:pPr algn="l">
              <a:lnSpc>
                <a:spcPts val="4200"/>
              </a:lnSpc>
            </a:pPr>
            <a:endParaRPr lang="en-US" sz="3000" b="1" spc="165">
              <a:solidFill>
                <a:srgbClr val="F1EEEE"/>
              </a:solidFill>
              <a:latin typeface="Muli Semi-Bold"/>
              <a:ea typeface="Muli Semi-Bold"/>
              <a:cs typeface="Muli Semi-Bold"/>
              <a:sym typeface="Muli Semi-Bold"/>
            </a:endParaRPr>
          </a:p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 b="1" spc="165">
                <a:solidFill>
                  <a:srgbClr val="F1EEEE"/>
                </a:solidFill>
                <a:latin typeface="Muli Semi-Bold"/>
                <a:ea typeface="Muli Semi-Bold"/>
                <a:cs typeface="Muli Semi-Bold"/>
                <a:sym typeface="Muli Semi-Bold"/>
              </a:rPr>
              <a:t>BY : NAYNA BISHT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823670" y="1190318"/>
            <a:ext cx="5528957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119"/>
              </a:lnSpc>
              <a:spcBef>
                <a:spcPct val="0"/>
              </a:spcBef>
            </a:pPr>
            <a:r>
              <a:rPr lang="en-US" sz="6765" b="1">
                <a:solidFill>
                  <a:srgbClr val="EFD1A9"/>
                </a:solidFill>
                <a:latin typeface="Muli Heavy"/>
                <a:ea typeface="Muli Heavy"/>
                <a:cs typeface="Muli Heavy"/>
                <a:sym typeface="Muli Heavy"/>
              </a:rPr>
              <a:t>NexaHome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846521" y="1019175"/>
            <a:ext cx="6860308" cy="2439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8000" b="1">
                <a:solidFill>
                  <a:srgbClr val="305049"/>
                </a:solidFill>
                <a:latin typeface="Muli Heavy"/>
                <a:ea typeface="Muli Heavy"/>
                <a:cs typeface="Muli Heavy"/>
                <a:sym typeface="Muli Heavy"/>
              </a:rPr>
              <a:t>Project Overview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3907051"/>
            <a:ext cx="7678129" cy="5010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1341" lvl="1" indent="-280670" algn="l">
              <a:lnSpc>
                <a:spcPts val="3640"/>
              </a:lnSpc>
              <a:spcBef>
                <a:spcPct val="0"/>
              </a:spcBef>
              <a:buFont typeface="Arial"/>
              <a:buChar char="•"/>
            </a:pPr>
            <a:r>
              <a:rPr lang="en-US" sz="2600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A full-stack web application for managing home services such as plumbing, ac repair, cleaning, etc.</a:t>
            </a:r>
          </a:p>
          <a:p>
            <a:pPr marL="561341" lvl="1" indent="-280670" algn="l">
              <a:lnSpc>
                <a:spcPts val="3640"/>
              </a:lnSpc>
              <a:spcBef>
                <a:spcPct val="0"/>
              </a:spcBef>
              <a:buFont typeface="Arial"/>
              <a:buChar char="•"/>
            </a:pPr>
            <a:r>
              <a:rPr lang="en-US" sz="2600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Enables customers to book services, technicians to accept jobs, and admins to manage operations.</a:t>
            </a:r>
          </a:p>
          <a:p>
            <a:pPr marL="561341" lvl="1" indent="-280670" algn="l">
              <a:lnSpc>
                <a:spcPts val="3640"/>
              </a:lnSpc>
              <a:spcBef>
                <a:spcPct val="0"/>
              </a:spcBef>
              <a:buFont typeface="Arial"/>
              <a:buChar char="•"/>
            </a:pPr>
            <a:r>
              <a:rPr lang="en-US" sz="2600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Built using microservices architecture for scalability and maintainability.</a:t>
            </a:r>
          </a:p>
          <a:p>
            <a:pPr marL="561341" lvl="1" indent="-280670" algn="l">
              <a:lnSpc>
                <a:spcPts val="3640"/>
              </a:lnSpc>
              <a:spcBef>
                <a:spcPct val="0"/>
              </a:spcBef>
              <a:buFont typeface="Arial"/>
              <a:buChar char="•"/>
            </a:pPr>
            <a:r>
              <a:rPr lang="en-US" sz="2600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Supports real-time notifications and role-based access.</a:t>
            </a:r>
          </a:p>
          <a:p>
            <a:pPr algn="l">
              <a:lnSpc>
                <a:spcPts val="3640"/>
              </a:lnSpc>
              <a:spcBef>
                <a:spcPct val="0"/>
              </a:spcBef>
            </a:pPr>
            <a:endParaRPr lang="en-US" sz="2600" dirty="0">
              <a:solidFill>
                <a:srgbClr val="305049"/>
              </a:solidFill>
              <a:latin typeface="Muli"/>
              <a:ea typeface="Muli"/>
              <a:cs typeface="Muli"/>
              <a:sym typeface="Muli"/>
            </a:endParaRPr>
          </a:p>
        </p:txBody>
      </p:sp>
      <p:sp>
        <p:nvSpPr>
          <p:cNvPr id="4" name="Freeform 4"/>
          <p:cNvSpPr/>
          <p:nvPr/>
        </p:nvSpPr>
        <p:spPr>
          <a:xfrm rot="-5400000">
            <a:off x="799980" y="1381033"/>
            <a:ext cx="914880" cy="457440"/>
          </a:xfrm>
          <a:custGeom>
            <a:avLst/>
            <a:gdLst/>
            <a:ahLst/>
            <a:cxnLst/>
            <a:rect l="l" t="t" r="r" b="b"/>
            <a:pathLst>
              <a:path w="914880" h="457440">
                <a:moveTo>
                  <a:pt x="0" y="0"/>
                </a:moveTo>
                <a:lnTo>
                  <a:pt x="914880" y="0"/>
                </a:lnTo>
                <a:lnTo>
                  <a:pt x="914880" y="457440"/>
                </a:lnTo>
                <a:lnTo>
                  <a:pt x="0" y="45744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0398992" y="1019175"/>
            <a:ext cx="6860308" cy="2439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8000" b="1">
                <a:solidFill>
                  <a:srgbClr val="305049"/>
                </a:solidFill>
                <a:latin typeface="Muli Heavy"/>
                <a:ea typeface="Muli Heavy"/>
                <a:cs typeface="Muli Heavy"/>
                <a:sym typeface="Muli Heavy"/>
              </a:rPr>
              <a:t>System Overview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9581171" y="3907051"/>
            <a:ext cx="7678129" cy="4096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1341" lvl="1" indent="-280670" algn="l">
              <a:lnSpc>
                <a:spcPts val="3640"/>
              </a:lnSpc>
              <a:spcBef>
                <a:spcPct val="0"/>
              </a:spcBef>
              <a:buFont typeface="Arial"/>
              <a:buChar char="•"/>
            </a:pPr>
            <a:r>
              <a:rPr lang="en-US" sz="2600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Centralized API Gateway for routing and authentication.</a:t>
            </a:r>
          </a:p>
          <a:p>
            <a:pPr marL="561341" lvl="1" indent="-280670" algn="l">
              <a:lnSpc>
                <a:spcPts val="3640"/>
              </a:lnSpc>
              <a:spcBef>
                <a:spcPct val="0"/>
              </a:spcBef>
              <a:buFont typeface="Arial"/>
              <a:buChar char="•"/>
            </a:pPr>
            <a:r>
              <a:rPr lang="en-US" sz="2600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Independent microservices for each business function.</a:t>
            </a:r>
          </a:p>
          <a:p>
            <a:pPr marL="561341" lvl="1" indent="-280670" algn="l">
              <a:lnSpc>
                <a:spcPts val="3640"/>
              </a:lnSpc>
              <a:spcBef>
                <a:spcPct val="0"/>
              </a:spcBef>
              <a:buFont typeface="Arial"/>
              <a:buChar char="•"/>
            </a:pPr>
            <a:r>
              <a:rPr lang="en-US" sz="2600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Event-driven communication using RabbitMQ for notifications.</a:t>
            </a:r>
          </a:p>
          <a:p>
            <a:pPr marL="561341" lvl="1" indent="-280670" algn="l">
              <a:lnSpc>
                <a:spcPts val="3640"/>
              </a:lnSpc>
              <a:spcBef>
                <a:spcPct val="0"/>
              </a:spcBef>
              <a:buFont typeface="Arial"/>
              <a:buChar char="•"/>
            </a:pPr>
            <a:r>
              <a:rPr lang="en-US" sz="2600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Frontend built with Angular for a responsive user experience.</a:t>
            </a:r>
          </a:p>
          <a:p>
            <a:pPr algn="l">
              <a:lnSpc>
                <a:spcPts val="3640"/>
              </a:lnSpc>
              <a:spcBef>
                <a:spcPct val="0"/>
              </a:spcBef>
            </a:pPr>
            <a:endParaRPr lang="en-US" sz="2600" dirty="0">
              <a:solidFill>
                <a:srgbClr val="305049"/>
              </a:solidFill>
              <a:latin typeface="Muli"/>
              <a:ea typeface="Muli"/>
              <a:cs typeface="Muli"/>
              <a:sym typeface="Muli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2949320" y="9037505"/>
            <a:ext cx="12389360" cy="4606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2799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Customer → Booking → Assignment → Technician → Notification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D1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799980" y="1400048"/>
            <a:ext cx="914880" cy="457440"/>
          </a:xfrm>
          <a:custGeom>
            <a:avLst/>
            <a:gdLst/>
            <a:ahLst/>
            <a:cxnLst/>
            <a:rect l="l" t="t" r="r" b="b"/>
            <a:pathLst>
              <a:path w="914880" h="457440">
                <a:moveTo>
                  <a:pt x="0" y="0"/>
                </a:moveTo>
                <a:lnTo>
                  <a:pt x="914880" y="0"/>
                </a:lnTo>
                <a:lnTo>
                  <a:pt x="914880" y="457440"/>
                </a:lnTo>
                <a:lnTo>
                  <a:pt x="0" y="45744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922581" y="1019175"/>
            <a:ext cx="14541858" cy="12246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8000" b="1">
                <a:solidFill>
                  <a:srgbClr val="305049"/>
                </a:solidFill>
                <a:latin typeface="Muli Heavy"/>
                <a:ea typeface="Muli Heavy"/>
                <a:cs typeface="Muli Heavy"/>
                <a:sym typeface="Muli Heavy"/>
              </a:rPr>
              <a:t>User Roles &amp; Responsibilities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392252" y="6654730"/>
            <a:ext cx="6613113" cy="2613095"/>
            <a:chOff x="0" y="0"/>
            <a:chExt cx="8817484" cy="3484127"/>
          </a:xfrm>
        </p:grpSpPr>
        <p:sp>
          <p:nvSpPr>
            <p:cNvPr id="5" name="TextBox 5"/>
            <p:cNvSpPr txBox="1"/>
            <p:nvPr/>
          </p:nvSpPr>
          <p:spPr>
            <a:xfrm>
              <a:off x="0" y="-57150"/>
              <a:ext cx="8817484" cy="666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305049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ADMIN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1086155"/>
              <a:ext cx="8817484" cy="23979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61339" lvl="1" indent="-280669" algn="l">
                <a:lnSpc>
                  <a:spcPts val="363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599" dirty="0">
                  <a:solidFill>
                    <a:srgbClr val="305049"/>
                  </a:solidFill>
                  <a:latin typeface="Muli"/>
                  <a:ea typeface="Muli"/>
                  <a:cs typeface="Muli"/>
                  <a:sym typeface="Muli"/>
                </a:rPr>
                <a:t>Create and manage services &amp; categories</a:t>
              </a:r>
            </a:p>
            <a:p>
              <a:pPr marL="561339" lvl="1" indent="-280669" algn="l">
                <a:lnSpc>
                  <a:spcPts val="363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599" dirty="0">
                  <a:solidFill>
                    <a:srgbClr val="305049"/>
                  </a:solidFill>
                  <a:latin typeface="Muli"/>
                  <a:ea typeface="Muli"/>
                  <a:cs typeface="Muli"/>
                  <a:sym typeface="Muli"/>
                </a:rPr>
                <a:t>Monitor overall system operations</a:t>
              </a:r>
            </a:p>
            <a:p>
              <a:pPr algn="l">
                <a:lnSpc>
                  <a:spcPts val="3639"/>
                </a:lnSpc>
                <a:spcBef>
                  <a:spcPct val="0"/>
                </a:spcBef>
              </a:pPr>
              <a:endParaRPr lang="en-US" sz="2599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endParaRP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209800" y="3004683"/>
            <a:ext cx="6613113" cy="3517971"/>
            <a:chOff x="0" y="0"/>
            <a:chExt cx="8817484" cy="4690627"/>
          </a:xfrm>
        </p:grpSpPr>
        <p:sp>
          <p:nvSpPr>
            <p:cNvPr id="8" name="TextBox 8"/>
            <p:cNvSpPr txBox="1"/>
            <p:nvPr/>
          </p:nvSpPr>
          <p:spPr>
            <a:xfrm>
              <a:off x="0" y="-47625"/>
              <a:ext cx="8817484" cy="6445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199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305049"/>
                  </a:solidFill>
                  <a:latin typeface="Muli Bold"/>
                  <a:ea typeface="Muli Bold"/>
                  <a:cs typeface="Muli Bold"/>
                  <a:sym typeface="Muli Bold"/>
                </a:rPr>
                <a:t>CUSTOMER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1073456"/>
              <a:ext cx="8817484" cy="36171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61339" lvl="1" indent="-280669" algn="just">
                <a:lnSpc>
                  <a:spcPts val="363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599" dirty="0">
                  <a:solidFill>
                    <a:srgbClr val="305049"/>
                  </a:solidFill>
                  <a:latin typeface="Muli"/>
                  <a:ea typeface="Muli"/>
                  <a:cs typeface="Muli"/>
                  <a:sym typeface="Muli"/>
                </a:rPr>
                <a:t>Browse available services and categories</a:t>
              </a:r>
            </a:p>
            <a:p>
              <a:pPr marL="561339" lvl="1" indent="-280669" algn="just">
                <a:lnSpc>
                  <a:spcPts val="363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599" dirty="0">
                  <a:solidFill>
                    <a:srgbClr val="305049"/>
                  </a:solidFill>
                  <a:latin typeface="Muli"/>
                  <a:ea typeface="Muli"/>
                  <a:cs typeface="Muli"/>
                  <a:sym typeface="Muli"/>
                </a:rPr>
                <a:t>Book services with date and time slots</a:t>
              </a:r>
            </a:p>
            <a:p>
              <a:pPr marL="561339" lvl="1" indent="-280669" algn="just">
                <a:lnSpc>
                  <a:spcPts val="363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599" dirty="0">
                  <a:solidFill>
                    <a:srgbClr val="305049"/>
                  </a:solidFill>
                  <a:latin typeface="Muli"/>
                  <a:ea typeface="Muli"/>
                  <a:cs typeface="Muli"/>
                  <a:sym typeface="Muli"/>
                </a:rPr>
                <a:t>View booking history and status</a:t>
              </a:r>
            </a:p>
            <a:p>
              <a:pPr marL="561339" lvl="1" indent="-280669" algn="just">
                <a:lnSpc>
                  <a:spcPts val="363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599" dirty="0">
                  <a:solidFill>
                    <a:srgbClr val="305049"/>
                  </a:solidFill>
                  <a:latin typeface="Muli"/>
                  <a:ea typeface="Muli"/>
                  <a:cs typeface="Muli"/>
                  <a:sym typeface="Muli"/>
                </a:rPr>
                <a:t>Receive email notifications</a:t>
              </a:r>
            </a:p>
            <a:p>
              <a:pPr algn="just">
                <a:lnSpc>
                  <a:spcPts val="3639"/>
                </a:lnSpc>
                <a:spcBef>
                  <a:spcPct val="0"/>
                </a:spcBef>
              </a:pPr>
              <a:endParaRPr lang="en-US" sz="2599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endParaRP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260752" y="2968964"/>
            <a:ext cx="6613113" cy="3527495"/>
            <a:chOff x="0" y="0"/>
            <a:chExt cx="8817484" cy="4703327"/>
          </a:xfrm>
        </p:grpSpPr>
        <p:sp>
          <p:nvSpPr>
            <p:cNvPr id="11" name="TextBox 11"/>
            <p:cNvSpPr txBox="1"/>
            <p:nvPr/>
          </p:nvSpPr>
          <p:spPr>
            <a:xfrm>
              <a:off x="0" y="-57150"/>
              <a:ext cx="8817484" cy="666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305049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TECHNICIAN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1086155"/>
              <a:ext cx="8817484" cy="361717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61339" lvl="1" indent="-280669" algn="l">
                <a:lnSpc>
                  <a:spcPts val="363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599" dirty="0">
                  <a:solidFill>
                    <a:srgbClr val="305049"/>
                  </a:solidFill>
                  <a:latin typeface="Muli"/>
                  <a:ea typeface="Muli"/>
                  <a:cs typeface="Muli"/>
                  <a:sym typeface="Muli"/>
                </a:rPr>
                <a:t>Onboard and submit profile for verification</a:t>
              </a:r>
            </a:p>
            <a:p>
              <a:pPr marL="561339" lvl="1" indent="-280669" algn="l">
                <a:lnSpc>
                  <a:spcPts val="363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599" dirty="0">
                  <a:solidFill>
                    <a:srgbClr val="305049"/>
                  </a:solidFill>
                  <a:latin typeface="Muli"/>
                  <a:ea typeface="Muli"/>
                  <a:cs typeface="Muli"/>
                  <a:sym typeface="Muli"/>
                </a:rPr>
                <a:t>View assigned jobs</a:t>
              </a:r>
            </a:p>
            <a:p>
              <a:pPr marL="561339" lvl="1" indent="-280669" algn="l">
                <a:lnSpc>
                  <a:spcPts val="363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599" dirty="0">
                  <a:solidFill>
                    <a:srgbClr val="305049"/>
                  </a:solidFill>
                  <a:latin typeface="Muli"/>
                  <a:ea typeface="Muli"/>
                  <a:cs typeface="Muli"/>
                  <a:sym typeface="Muli"/>
                </a:rPr>
                <a:t>Accept and update assignment status</a:t>
              </a:r>
            </a:p>
            <a:p>
              <a:pPr marL="561339" lvl="1" indent="-280669" algn="l">
                <a:lnSpc>
                  <a:spcPts val="363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599" dirty="0">
                  <a:solidFill>
                    <a:srgbClr val="305049"/>
                  </a:solidFill>
                  <a:latin typeface="Muli"/>
                  <a:ea typeface="Muli"/>
                  <a:cs typeface="Muli"/>
                  <a:sym typeface="Muli"/>
                </a:rPr>
                <a:t>Complete service tasks</a:t>
              </a:r>
            </a:p>
            <a:p>
              <a:pPr algn="l">
                <a:lnSpc>
                  <a:spcPts val="3639"/>
                </a:lnSpc>
                <a:spcBef>
                  <a:spcPct val="0"/>
                </a:spcBef>
              </a:pPr>
              <a:endParaRPr lang="en-US" sz="2599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endParaRP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282635" y="6453597"/>
            <a:ext cx="6613113" cy="2668424"/>
            <a:chOff x="0" y="-57150"/>
            <a:chExt cx="8817484" cy="3557899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57150"/>
              <a:ext cx="8817484" cy="66675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4200"/>
                </a:lnSpc>
                <a:spcBef>
                  <a:spcPct val="0"/>
                </a:spcBef>
              </a:pPr>
              <a:r>
                <a:rPr lang="en-US" sz="3000" b="1">
                  <a:solidFill>
                    <a:srgbClr val="305049"/>
                  </a:solidFill>
                  <a:latin typeface="Muli Semi-Bold"/>
                  <a:ea typeface="Muli Semi-Bold"/>
                  <a:cs typeface="Muli Semi-Bold"/>
                  <a:sym typeface="Muli Semi-Bold"/>
                </a:rPr>
                <a:t>SERVICE MANAGER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1086155"/>
              <a:ext cx="8817484" cy="241459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561339" lvl="1" indent="-280669" algn="l">
                <a:lnSpc>
                  <a:spcPts val="363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599" dirty="0">
                  <a:solidFill>
                    <a:srgbClr val="305049"/>
                  </a:solidFill>
                  <a:latin typeface="Muli"/>
                  <a:ea typeface="Muli"/>
                  <a:cs typeface="Muli"/>
                  <a:sym typeface="Muli"/>
                </a:rPr>
                <a:t>Verify technicians</a:t>
              </a:r>
            </a:p>
            <a:p>
              <a:pPr marL="561339" lvl="1" indent="-280669" algn="l">
                <a:lnSpc>
                  <a:spcPts val="363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599" dirty="0">
                  <a:solidFill>
                    <a:srgbClr val="305049"/>
                  </a:solidFill>
                  <a:latin typeface="Muli"/>
                  <a:ea typeface="Muli"/>
                  <a:cs typeface="Muli"/>
                  <a:sym typeface="Muli"/>
                </a:rPr>
                <a:t>Assign or reassign technicians to bookings</a:t>
              </a:r>
            </a:p>
            <a:p>
              <a:pPr marL="561339" lvl="1" indent="-280669" algn="l">
                <a:lnSpc>
                  <a:spcPts val="3639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2599" dirty="0">
                  <a:solidFill>
                    <a:srgbClr val="305049"/>
                  </a:solidFill>
                  <a:latin typeface="Muli"/>
                  <a:ea typeface="Muli"/>
                  <a:cs typeface="Muli"/>
                  <a:sym typeface="Muli"/>
                </a:rPr>
                <a:t>Cancel bookings (if required)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05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7243371" y="6634783"/>
            <a:ext cx="10494067" cy="5247033"/>
          </a:xfrm>
          <a:custGeom>
            <a:avLst/>
            <a:gdLst/>
            <a:ahLst/>
            <a:cxnLst/>
            <a:rect l="l" t="t" r="r" b="b"/>
            <a:pathLst>
              <a:path w="10494067" h="5247033">
                <a:moveTo>
                  <a:pt x="0" y="0"/>
                </a:moveTo>
                <a:lnTo>
                  <a:pt x="10494067" y="0"/>
                </a:lnTo>
                <a:lnTo>
                  <a:pt x="10494067" y="5247034"/>
                </a:lnTo>
                <a:lnTo>
                  <a:pt x="0" y="524703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055511" y="2519198"/>
            <a:ext cx="15203789" cy="65596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14"/>
              </a:lnSpc>
              <a:spcBef>
                <a:spcPct val="0"/>
              </a:spcBef>
            </a:pPr>
            <a:r>
              <a:rPr lang="en-US" sz="2652" b="1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API Gateway</a:t>
            </a:r>
            <a:r>
              <a:rPr lang="en-US" sz="2652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 – Central entry point for all requests</a:t>
            </a:r>
          </a:p>
          <a:p>
            <a:pPr algn="l">
              <a:lnSpc>
                <a:spcPts val="3714"/>
              </a:lnSpc>
              <a:spcBef>
                <a:spcPct val="0"/>
              </a:spcBef>
            </a:pPr>
            <a:endParaRPr lang="en-US" sz="2652" dirty="0">
              <a:solidFill>
                <a:srgbClr val="F1EEEE"/>
              </a:solidFill>
              <a:latin typeface="Muli"/>
              <a:ea typeface="Muli"/>
              <a:cs typeface="Muli"/>
              <a:sym typeface="Muli"/>
            </a:endParaRPr>
          </a:p>
          <a:p>
            <a:pPr algn="l">
              <a:lnSpc>
                <a:spcPts val="3714"/>
              </a:lnSpc>
              <a:spcBef>
                <a:spcPct val="0"/>
              </a:spcBef>
            </a:pPr>
            <a:r>
              <a:rPr lang="en-US" sz="2652" b="1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Auth Service</a:t>
            </a:r>
            <a:r>
              <a:rPr lang="en-US" sz="2652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 – Authentication and role-based authorization</a:t>
            </a:r>
          </a:p>
          <a:p>
            <a:pPr algn="l">
              <a:lnSpc>
                <a:spcPts val="3714"/>
              </a:lnSpc>
              <a:spcBef>
                <a:spcPct val="0"/>
              </a:spcBef>
            </a:pPr>
            <a:endParaRPr lang="en-US" sz="2652" dirty="0">
              <a:solidFill>
                <a:srgbClr val="F1EEEE"/>
              </a:solidFill>
              <a:latin typeface="Muli"/>
              <a:ea typeface="Muli"/>
              <a:cs typeface="Muli"/>
              <a:sym typeface="Muli"/>
            </a:endParaRPr>
          </a:p>
          <a:p>
            <a:pPr algn="l">
              <a:lnSpc>
                <a:spcPts val="3714"/>
              </a:lnSpc>
              <a:spcBef>
                <a:spcPct val="0"/>
              </a:spcBef>
            </a:pPr>
            <a:r>
              <a:rPr lang="en-US" sz="2652" b="1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Service Management Service</a:t>
            </a:r>
            <a:r>
              <a:rPr lang="en-US" sz="2652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 – Manages services and categories (Admin/Service Manager)</a:t>
            </a:r>
          </a:p>
          <a:p>
            <a:pPr algn="l">
              <a:lnSpc>
                <a:spcPts val="3714"/>
              </a:lnSpc>
              <a:spcBef>
                <a:spcPct val="0"/>
              </a:spcBef>
            </a:pPr>
            <a:endParaRPr lang="en-US" sz="2652" dirty="0">
              <a:solidFill>
                <a:srgbClr val="F1EEEE"/>
              </a:solidFill>
              <a:latin typeface="Muli"/>
              <a:ea typeface="Muli"/>
              <a:cs typeface="Muli"/>
              <a:sym typeface="Muli"/>
            </a:endParaRPr>
          </a:p>
          <a:p>
            <a:pPr algn="l">
              <a:lnSpc>
                <a:spcPts val="3714"/>
              </a:lnSpc>
              <a:spcBef>
                <a:spcPct val="0"/>
              </a:spcBef>
            </a:pPr>
            <a:r>
              <a:rPr lang="en-US" sz="2652" b="1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Booking Service</a:t>
            </a:r>
            <a:r>
              <a:rPr lang="en-US" sz="2652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 – Handles customer bookings and scheduling (Customer)</a:t>
            </a:r>
          </a:p>
          <a:p>
            <a:pPr algn="l">
              <a:lnSpc>
                <a:spcPts val="3714"/>
              </a:lnSpc>
              <a:spcBef>
                <a:spcPct val="0"/>
              </a:spcBef>
            </a:pPr>
            <a:endParaRPr lang="en-US" sz="2652" dirty="0">
              <a:solidFill>
                <a:srgbClr val="F1EEEE"/>
              </a:solidFill>
              <a:latin typeface="Muli"/>
              <a:ea typeface="Muli"/>
              <a:cs typeface="Muli"/>
              <a:sym typeface="Muli"/>
            </a:endParaRPr>
          </a:p>
          <a:p>
            <a:pPr algn="l">
              <a:lnSpc>
                <a:spcPts val="3714"/>
              </a:lnSpc>
              <a:spcBef>
                <a:spcPct val="0"/>
              </a:spcBef>
            </a:pPr>
            <a:r>
              <a:rPr lang="en-US" sz="2652" b="1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Assignment Service </a:t>
            </a:r>
            <a:r>
              <a:rPr lang="en-US" sz="2652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– Assigns technicians to bookings (Service Manager)</a:t>
            </a:r>
          </a:p>
          <a:p>
            <a:pPr algn="l">
              <a:lnSpc>
                <a:spcPts val="3714"/>
              </a:lnSpc>
              <a:spcBef>
                <a:spcPct val="0"/>
              </a:spcBef>
            </a:pPr>
            <a:endParaRPr lang="en-US" sz="2652" dirty="0">
              <a:solidFill>
                <a:srgbClr val="F1EEEE"/>
              </a:solidFill>
              <a:latin typeface="Muli"/>
              <a:ea typeface="Muli"/>
              <a:cs typeface="Muli"/>
              <a:sym typeface="Muli"/>
            </a:endParaRPr>
          </a:p>
          <a:p>
            <a:pPr algn="l">
              <a:lnSpc>
                <a:spcPts val="3714"/>
              </a:lnSpc>
              <a:spcBef>
                <a:spcPct val="0"/>
              </a:spcBef>
            </a:pPr>
            <a:r>
              <a:rPr lang="en-US" sz="2652" b="1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Technician Service</a:t>
            </a:r>
            <a:r>
              <a:rPr lang="en-US" sz="2652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 – Technician onboarding and verification (Technician)</a:t>
            </a:r>
          </a:p>
          <a:p>
            <a:pPr algn="l">
              <a:lnSpc>
                <a:spcPts val="3714"/>
              </a:lnSpc>
              <a:spcBef>
                <a:spcPct val="0"/>
              </a:spcBef>
            </a:pPr>
            <a:endParaRPr lang="en-US" sz="2652" dirty="0">
              <a:solidFill>
                <a:srgbClr val="F1EEEE"/>
              </a:solidFill>
              <a:latin typeface="Muli"/>
              <a:ea typeface="Muli"/>
              <a:cs typeface="Muli"/>
              <a:sym typeface="Muli"/>
            </a:endParaRPr>
          </a:p>
          <a:p>
            <a:pPr algn="l">
              <a:lnSpc>
                <a:spcPts val="3714"/>
              </a:lnSpc>
              <a:spcBef>
                <a:spcPct val="0"/>
              </a:spcBef>
            </a:pPr>
            <a:r>
              <a:rPr lang="en-US" sz="2652" b="1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Notification Service </a:t>
            </a:r>
            <a:r>
              <a:rPr lang="en-US" sz="2652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– Sends email updates via RabbitMQ</a:t>
            </a:r>
          </a:p>
          <a:p>
            <a:pPr algn="l">
              <a:lnSpc>
                <a:spcPts val="3714"/>
              </a:lnSpc>
              <a:spcBef>
                <a:spcPct val="0"/>
              </a:spcBef>
            </a:pPr>
            <a:endParaRPr lang="en-US" sz="2652" dirty="0">
              <a:solidFill>
                <a:srgbClr val="F1EEEE"/>
              </a:solidFill>
              <a:latin typeface="Muli"/>
              <a:ea typeface="Muli"/>
              <a:cs typeface="Muli"/>
              <a:sym typeface="Muli"/>
            </a:endParaRPr>
          </a:p>
        </p:txBody>
      </p:sp>
      <p:sp>
        <p:nvSpPr>
          <p:cNvPr id="4" name="Freeform 4"/>
          <p:cNvSpPr/>
          <p:nvPr/>
        </p:nvSpPr>
        <p:spPr>
          <a:xfrm rot="-5400000">
            <a:off x="727752" y="1329648"/>
            <a:ext cx="1203791" cy="601895"/>
          </a:xfrm>
          <a:custGeom>
            <a:avLst/>
            <a:gdLst/>
            <a:ahLst/>
            <a:cxnLst/>
            <a:rect l="l" t="t" r="r" b="b"/>
            <a:pathLst>
              <a:path w="1203791" h="601895">
                <a:moveTo>
                  <a:pt x="0" y="0"/>
                </a:moveTo>
                <a:lnTo>
                  <a:pt x="1203791" y="0"/>
                </a:lnTo>
                <a:lnTo>
                  <a:pt x="1203791" y="601895"/>
                </a:lnTo>
                <a:lnTo>
                  <a:pt x="0" y="6018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2055511" y="828785"/>
            <a:ext cx="15261838" cy="1149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>
                <a:solidFill>
                  <a:srgbClr val="EFD1A9"/>
                </a:solidFill>
                <a:latin typeface="Muli Heavy"/>
                <a:ea typeface="Muli Heavy"/>
                <a:cs typeface="Muli Heavy"/>
                <a:sym typeface="Muli Heavy"/>
              </a:rPr>
              <a:t>Microservices Implemented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295107"/>
            <a:ext cx="18288000" cy="9696787"/>
          </a:xfrm>
          <a:custGeom>
            <a:avLst/>
            <a:gdLst/>
            <a:ahLst/>
            <a:cxnLst/>
            <a:rect l="l" t="t" r="r" b="b"/>
            <a:pathLst>
              <a:path w="18288000" h="9696787">
                <a:moveTo>
                  <a:pt x="0" y="0"/>
                </a:moveTo>
                <a:lnTo>
                  <a:pt x="18288000" y="0"/>
                </a:lnTo>
                <a:lnTo>
                  <a:pt x="18288000" y="9696786"/>
                </a:lnTo>
                <a:lnTo>
                  <a:pt x="0" y="96967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15516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91440"/>
            <a:ext cx="18288000" cy="9166860"/>
          </a:xfrm>
          <a:custGeom>
            <a:avLst/>
            <a:gdLst/>
            <a:ahLst/>
            <a:cxnLst/>
            <a:rect l="l" t="t" r="r" b="b"/>
            <a:pathLst>
              <a:path w="18288000" h="9166860">
                <a:moveTo>
                  <a:pt x="0" y="0"/>
                </a:moveTo>
                <a:lnTo>
                  <a:pt x="18288000" y="0"/>
                </a:lnTo>
                <a:lnTo>
                  <a:pt x="18288000" y="9166860"/>
                </a:lnTo>
                <a:lnTo>
                  <a:pt x="0" y="91668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4815564" y="9458654"/>
            <a:ext cx="7544007" cy="8283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881"/>
              </a:lnSpc>
              <a:spcBef>
                <a:spcPct val="0"/>
              </a:spcBef>
            </a:pPr>
            <a:r>
              <a:rPr lang="en-US" sz="4915" b="1">
                <a:solidFill>
                  <a:srgbClr val="000000"/>
                </a:solidFill>
                <a:latin typeface="Muli Bold"/>
                <a:ea typeface="Muli Bold"/>
                <a:cs typeface="Muli Bold"/>
                <a:sym typeface="Muli Bold"/>
              </a:rPr>
              <a:t>Website Landing Page UI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EE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863934" cy="10287000"/>
          </a:xfrm>
          <a:custGeom>
            <a:avLst/>
            <a:gdLst/>
            <a:ahLst/>
            <a:cxnLst/>
            <a:rect l="l" t="t" r="r" b="b"/>
            <a:pathLst>
              <a:path w="16863934" h="10287000">
                <a:moveTo>
                  <a:pt x="0" y="0"/>
                </a:moveTo>
                <a:lnTo>
                  <a:pt x="16863934" y="0"/>
                </a:lnTo>
                <a:lnTo>
                  <a:pt x="1686393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6863934" y="9525"/>
            <a:ext cx="1045672" cy="10277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158"/>
              </a:lnSpc>
            </a:pPr>
            <a:r>
              <a:rPr lang="en-US" sz="8465" b="1">
                <a:solidFill>
                  <a:srgbClr val="305049"/>
                </a:solidFill>
                <a:latin typeface="Muli Heavy"/>
                <a:ea typeface="Muli Heavy"/>
                <a:cs typeface="Muli Heavy"/>
                <a:sym typeface="Muli Heavy"/>
              </a:rPr>
              <a:t>S</a:t>
            </a:r>
          </a:p>
          <a:p>
            <a:pPr algn="ctr">
              <a:lnSpc>
                <a:spcPts val="10158"/>
              </a:lnSpc>
            </a:pPr>
            <a:r>
              <a:rPr lang="en-US" sz="8465" b="1">
                <a:solidFill>
                  <a:srgbClr val="305049"/>
                </a:solidFill>
                <a:latin typeface="Muli Heavy"/>
                <a:ea typeface="Muli Heavy"/>
                <a:cs typeface="Muli Heavy"/>
                <a:sym typeface="Muli Heavy"/>
              </a:rPr>
              <a:t>E</a:t>
            </a:r>
          </a:p>
          <a:p>
            <a:pPr algn="ctr">
              <a:lnSpc>
                <a:spcPts val="10158"/>
              </a:lnSpc>
            </a:pPr>
            <a:r>
              <a:rPr lang="en-US" sz="8465" b="1">
                <a:solidFill>
                  <a:srgbClr val="305049"/>
                </a:solidFill>
                <a:latin typeface="Muli Heavy"/>
                <a:ea typeface="Muli Heavy"/>
                <a:cs typeface="Muli Heavy"/>
                <a:sym typeface="Muli Heavy"/>
              </a:rPr>
              <a:t>R</a:t>
            </a:r>
          </a:p>
          <a:p>
            <a:pPr algn="ctr">
              <a:lnSpc>
                <a:spcPts val="10158"/>
              </a:lnSpc>
            </a:pPr>
            <a:r>
              <a:rPr lang="en-US" sz="8465" b="1">
                <a:solidFill>
                  <a:srgbClr val="305049"/>
                </a:solidFill>
                <a:latin typeface="Muli Heavy"/>
                <a:ea typeface="Muli Heavy"/>
                <a:cs typeface="Muli Heavy"/>
                <a:sym typeface="Muli Heavy"/>
              </a:rPr>
              <a:t>V</a:t>
            </a:r>
          </a:p>
          <a:p>
            <a:pPr algn="ctr">
              <a:lnSpc>
                <a:spcPts val="10158"/>
              </a:lnSpc>
            </a:pPr>
            <a:r>
              <a:rPr lang="en-US" sz="8465" b="1">
                <a:solidFill>
                  <a:srgbClr val="305049"/>
                </a:solidFill>
                <a:latin typeface="Muli Heavy"/>
                <a:ea typeface="Muli Heavy"/>
                <a:cs typeface="Muli Heavy"/>
                <a:sym typeface="Muli Heavy"/>
              </a:rPr>
              <a:t>I</a:t>
            </a:r>
          </a:p>
          <a:p>
            <a:pPr algn="ctr">
              <a:lnSpc>
                <a:spcPts val="10158"/>
              </a:lnSpc>
            </a:pPr>
            <a:r>
              <a:rPr lang="en-US" sz="8465" b="1">
                <a:solidFill>
                  <a:srgbClr val="305049"/>
                </a:solidFill>
                <a:latin typeface="Muli Heavy"/>
                <a:ea typeface="Muli Heavy"/>
                <a:cs typeface="Muli Heavy"/>
                <a:sym typeface="Muli Heavy"/>
              </a:rPr>
              <a:t>C</a:t>
            </a:r>
          </a:p>
          <a:p>
            <a:pPr algn="ctr">
              <a:lnSpc>
                <a:spcPts val="10158"/>
              </a:lnSpc>
            </a:pPr>
            <a:r>
              <a:rPr lang="en-US" sz="8465" b="1">
                <a:solidFill>
                  <a:srgbClr val="305049"/>
                </a:solidFill>
                <a:latin typeface="Muli Heavy"/>
                <a:ea typeface="Muli Heavy"/>
                <a:cs typeface="Muli Heavy"/>
                <a:sym typeface="Muli Heavy"/>
              </a:rPr>
              <a:t>E</a:t>
            </a:r>
          </a:p>
          <a:p>
            <a:pPr algn="ctr">
              <a:lnSpc>
                <a:spcPts val="10158"/>
              </a:lnSpc>
            </a:pPr>
            <a:r>
              <a:rPr lang="en-US" sz="8465" b="1">
                <a:solidFill>
                  <a:srgbClr val="305049"/>
                </a:solidFill>
                <a:latin typeface="Muli Heavy"/>
                <a:ea typeface="Muli Heavy"/>
                <a:cs typeface="Muli Heavy"/>
                <a:sym typeface="Muli Heavy"/>
              </a:rPr>
              <a:t>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D1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750467" y="885825"/>
            <a:ext cx="10508833" cy="10888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991"/>
              </a:lnSpc>
              <a:spcBef>
                <a:spcPct val="0"/>
              </a:spcBef>
            </a:pPr>
            <a:r>
              <a:rPr lang="en-US" sz="6422" b="1" u="sng">
                <a:solidFill>
                  <a:srgbClr val="305049"/>
                </a:solidFill>
                <a:latin typeface="Muli Bold"/>
                <a:ea typeface="Muli Bold"/>
                <a:cs typeface="Muli Bold"/>
                <a:sym typeface="Muli Bold"/>
              </a:rPr>
              <a:t>Technology Stack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5705439" y="2218347"/>
            <a:ext cx="5637525" cy="4324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2"/>
              </a:lnSpc>
            </a:pPr>
            <a:r>
              <a:rPr lang="en-US" sz="2402" b="1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Backend</a:t>
            </a:r>
          </a:p>
          <a:p>
            <a:pPr marL="518610" lvl="1" indent="-259305" algn="l">
              <a:lnSpc>
                <a:spcPts val="3362"/>
              </a:lnSpc>
              <a:buFont typeface="Arial"/>
              <a:buChar char="•"/>
            </a:pPr>
            <a:r>
              <a:rPr lang="en-US" sz="2402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Java, Spring Boot</a:t>
            </a:r>
          </a:p>
          <a:p>
            <a:pPr marL="518610" lvl="1" indent="-259305" algn="l">
              <a:lnSpc>
                <a:spcPts val="3362"/>
              </a:lnSpc>
              <a:spcBef>
                <a:spcPct val="0"/>
              </a:spcBef>
              <a:buFont typeface="Arial"/>
              <a:buChar char="•"/>
            </a:pPr>
            <a:r>
              <a:rPr lang="en-US" sz="2402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Spring Security (JWT Authentication)</a:t>
            </a:r>
          </a:p>
          <a:p>
            <a:pPr marL="518610" lvl="1" indent="-259305" algn="l">
              <a:lnSpc>
                <a:spcPts val="3362"/>
              </a:lnSpc>
              <a:spcBef>
                <a:spcPct val="0"/>
              </a:spcBef>
              <a:buFont typeface="Arial"/>
              <a:buChar char="•"/>
            </a:pPr>
            <a:r>
              <a:rPr lang="en-US" sz="2402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REST APIs</a:t>
            </a:r>
          </a:p>
          <a:p>
            <a:pPr algn="l">
              <a:lnSpc>
                <a:spcPts val="3362"/>
              </a:lnSpc>
              <a:spcBef>
                <a:spcPct val="0"/>
              </a:spcBef>
            </a:pPr>
            <a:endParaRPr lang="en-US" sz="2402" dirty="0">
              <a:solidFill>
                <a:srgbClr val="305049"/>
              </a:solidFill>
              <a:latin typeface="Muli"/>
              <a:ea typeface="Muli"/>
              <a:cs typeface="Muli"/>
              <a:sym typeface="Muli"/>
            </a:endParaRPr>
          </a:p>
          <a:p>
            <a:pPr algn="l">
              <a:lnSpc>
                <a:spcPts val="3362"/>
              </a:lnSpc>
              <a:spcBef>
                <a:spcPct val="0"/>
              </a:spcBef>
            </a:pPr>
            <a:r>
              <a:rPr lang="en-US" sz="2402" b="1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Frontend</a:t>
            </a:r>
          </a:p>
          <a:p>
            <a:pPr marL="518610" lvl="1" indent="-259305" algn="l">
              <a:lnSpc>
                <a:spcPts val="3362"/>
              </a:lnSpc>
              <a:spcBef>
                <a:spcPct val="0"/>
              </a:spcBef>
              <a:buFont typeface="Arial"/>
              <a:buChar char="•"/>
            </a:pPr>
            <a:r>
              <a:rPr lang="en-US" sz="2402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Angular</a:t>
            </a:r>
          </a:p>
          <a:p>
            <a:pPr marL="518610" lvl="1" indent="-259305" algn="l">
              <a:lnSpc>
                <a:spcPts val="3362"/>
              </a:lnSpc>
              <a:spcBef>
                <a:spcPct val="0"/>
              </a:spcBef>
              <a:buFont typeface="Arial"/>
              <a:buChar char="•"/>
            </a:pPr>
            <a:r>
              <a:rPr lang="en-US" sz="2402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Tailwind / CSS for UI design</a:t>
            </a:r>
          </a:p>
          <a:p>
            <a:pPr algn="l">
              <a:lnSpc>
                <a:spcPts val="3362"/>
              </a:lnSpc>
              <a:spcBef>
                <a:spcPct val="0"/>
              </a:spcBef>
            </a:pPr>
            <a:endParaRPr lang="en-US" sz="2402" dirty="0">
              <a:solidFill>
                <a:srgbClr val="305049"/>
              </a:solidFill>
              <a:latin typeface="Muli"/>
              <a:ea typeface="Muli"/>
              <a:cs typeface="Muli"/>
              <a:sym typeface="Muli"/>
            </a:endParaRPr>
          </a:p>
        </p:txBody>
      </p:sp>
      <p:sp>
        <p:nvSpPr>
          <p:cNvPr id="4" name="Freeform 4"/>
          <p:cNvSpPr/>
          <p:nvPr/>
        </p:nvSpPr>
        <p:spPr>
          <a:xfrm rot="-5400000">
            <a:off x="-3066153" y="2436744"/>
            <a:ext cx="10827025" cy="5413512"/>
          </a:xfrm>
          <a:custGeom>
            <a:avLst/>
            <a:gdLst/>
            <a:ahLst/>
            <a:cxnLst/>
            <a:rect l="l" t="t" r="r" b="b"/>
            <a:pathLst>
              <a:path w="10827025" h="5413512">
                <a:moveTo>
                  <a:pt x="0" y="0"/>
                </a:moveTo>
                <a:lnTo>
                  <a:pt x="10827024" y="0"/>
                </a:lnTo>
                <a:lnTo>
                  <a:pt x="10827024" y="5413512"/>
                </a:lnTo>
                <a:lnTo>
                  <a:pt x="0" y="54135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1621775" y="2218347"/>
            <a:ext cx="5637525" cy="47607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62"/>
              </a:lnSpc>
              <a:spcBef>
                <a:spcPct val="0"/>
              </a:spcBef>
            </a:pPr>
            <a:r>
              <a:rPr lang="en-US" sz="2402" b="1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Database</a:t>
            </a:r>
          </a:p>
          <a:p>
            <a:pPr marL="518610" lvl="1" indent="-259305" algn="l">
              <a:lnSpc>
                <a:spcPts val="3362"/>
              </a:lnSpc>
              <a:spcBef>
                <a:spcPct val="0"/>
              </a:spcBef>
              <a:buFont typeface="Arial"/>
              <a:buChar char="•"/>
            </a:pPr>
            <a:r>
              <a:rPr lang="en-US" sz="2402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MongoDB (NoSQL)</a:t>
            </a:r>
          </a:p>
          <a:p>
            <a:pPr algn="l">
              <a:lnSpc>
                <a:spcPts val="3362"/>
              </a:lnSpc>
              <a:spcBef>
                <a:spcPct val="0"/>
              </a:spcBef>
            </a:pPr>
            <a:endParaRPr lang="en-US" sz="2402" dirty="0">
              <a:solidFill>
                <a:srgbClr val="305049"/>
              </a:solidFill>
              <a:latin typeface="Muli"/>
              <a:ea typeface="Muli"/>
              <a:cs typeface="Muli"/>
              <a:sym typeface="Muli"/>
            </a:endParaRPr>
          </a:p>
          <a:p>
            <a:pPr algn="l">
              <a:lnSpc>
                <a:spcPts val="3362"/>
              </a:lnSpc>
              <a:spcBef>
                <a:spcPct val="0"/>
              </a:spcBef>
            </a:pPr>
            <a:r>
              <a:rPr lang="en-US" sz="2402" b="1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Messaging</a:t>
            </a:r>
          </a:p>
          <a:p>
            <a:pPr marL="518610" lvl="1" indent="-259305" algn="l">
              <a:lnSpc>
                <a:spcPts val="3362"/>
              </a:lnSpc>
              <a:spcBef>
                <a:spcPct val="0"/>
              </a:spcBef>
              <a:buFont typeface="Arial"/>
              <a:buChar char="•"/>
            </a:pPr>
            <a:r>
              <a:rPr lang="en-US" sz="2402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RabbitMQ</a:t>
            </a:r>
          </a:p>
          <a:p>
            <a:pPr algn="l">
              <a:lnSpc>
                <a:spcPts val="3362"/>
              </a:lnSpc>
              <a:spcBef>
                <a:spcPct val="0"/>
              </a:spcBef>
            </a:pPr>
            <a:endParaRPr lang="en-US" sz="2402" dirty="0">
              <a:solidFill>
                <a:srgbClr val="305049"/>
              </a:solidFill>
              <a:latin typeface="Muli"/>
              <a:ea typeface="Muli"/>
              <a:cs typeface="Muli"/>
              <a:sym typeface="Muli"/>
            </a:endParaRPr>
          </a:p>
          <a:p>
            <a:pPr algn="l">
              <a:lnSpc>
                <a:spcPts val="3362"/>
              </a:lnSpc>
              <a:spcBef>
                <a:spcPct val="0"/>
              </a:spcBef>
            </a:pPr>
            <a:r>
              <a:rPr lang="en-US" sz="2402" b="1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DevOps &amp; Quality</a:t>
            </a:r>
          </a:p>
          <a:p>
            <a:pPr marL="518610" lvl="1" indent="-259305" algn="l">
              <a:lnSpc>
                <a:spcPts val="3362"/>
              </a:lnSpc>
              <a:spcBef>
                <a:spcPct val="0"/>
              </a:spcBef>
              <a:buFont typeface="Arial"/>
              <a:buChar char="•"/>
            </a:pPr>
            <a:r>
              <a:rPr lang="en-US" sz="2402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Docker, Docker Compose</a:t>
            </a:r>
          </a:p>
          <a:p>
            <a:pPr marL="518610" lvl="1" indent="-259305" algn="l">
              <a:lnSpc>
                <a:spcPts val="3362"/>
              </a:lnSpc>
              <a:spcBef>
                <a:spcPct val="0"/>
              </a:spcBef>
              <a:buFont typeface="Arial"/>
              <a:buChar char="•"/>
            </a:pPr>
            <a:r>
              <a:rPr lang="en-US" sz="2402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SonarQube for code quality</a:t>
            </a:r>
          </a:p>
          <a:p>
            <a:pPr marL="518610" lvl="1" indent="-259305" algn="l">
              <a:lnSpc>
                <a:spcPts val="3362"/>
              </a:lnSpc>
              <a:spcBef>
                <a:spcPct val="0"/>
              </a:spcBef>
              <a:buFont typeface="Arial"/>
              <a:buChar char="•"/>
            </a:pPr>
            <a:r>
              <a:rPr lang="en-US" sz="2402" dirty="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Jenkins Pipeline</a:t>
            </a:r>
          </a:p>
          <a:p>
            <a:pPr algn="l">
              <a:lnSpc>
                <a:spcPts val="3362"/>
              </a:lnSpc>
              <a:spcBef>
                <a:spcPct val="0"/>
              </a:spcBef>
            </a:pPr>
            <a:endParaRPr lang="en-US" sz="2402" dirty="0">
              <a:solidFill>
                <a:srgbClr val="305049"/>
              </a:solidFill>
              <a:latin typeface="Muli"/>
              <a:ea typeface="Muli"/>
              <a:cs typeface="Muli"/>
              <a:sym typeface="Muli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5054115" y="7669769"/>
            <a:ext cx="2547045" cy="4387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  <a:spcBef>
                <a:spcPct val="0"/>
              </a:spcBef>
            </a:pPr>
            <a:r>
              <a:rPr lang="en-US" sz="2599" b="1">
                <a:solidFill>
                  <a:srgbClr val="305049"/>
                </a:solidFill>
                <a:latin typeface="Muli Bold"/>
                <a:ea typeface="Muli Bold"/>
                <a:cs typeface="Muli Bold"/>
                <a:sym typeface="Muli Bold"/>
              </a:rPr>
              <a:t>Why MongoDB?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281690" y="7043659"/>
            <a:ext cx="9175322" cy="2920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305049"/>
                </a:solidFill>
                <a:latin typeface="Muli Bold"/>
                <a:ea typeface="Muli Bold"/>
                <a:cs typeface="Muli Bold"/>
                <a:sym typeface="Muli Bold"/>
              </a:rPr>
              <a:t>Schema-flexible:</a:t>
            </a:r>
            <a:r>
              <a:rPr lang="en-US" sz="240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 Easily handles evolving data models</a:t>
            </a:r>
          </a:p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305049"/>
                </a:solidFill>
                <a:latin typeface="Muli Bold"/>
                <a:ea typeface="Muli Bold"/>
                <a:cs typeface="Muli Bold"/>
                <a:sym typeface="Muli Bold"/>
              </a:rPr>
              <a:t>Document-centric data model:</a:t>
            </a:r>
            <a:r>
              <a:rPr lang="en-US" sz="240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 Ideal for nested JSON-like data used in microservices</a:t>
            </a:r>
          </a:p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305049"/>
                </a:solidFill>
                <a:latin typeface="Muli Bold"/>
                <a:ea typeface="Muli Bold"/>
                <a:cs typeface="Muli Bold"/>
                <a:sym typeface="Muli Bold"/>
              </a:rPr>
              <a:t>High performance:</a:t>
            </a:r>
            <a:r>
              <a:rPr lang="en-US" sz="240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 Fast read/write operations</a:t>
            </a:r>
          </a:p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305049"/>
                </a:solidFill>
                <a:latin typeface="Muli Bold"/>
                <a:ea typeface="Muli Bold"/>
                <a:cs typeface="Muli Bold"/>
                <a:sym typeface="Muli Bold"/>
              </a:rPr>
              <a:t>Scalability:</a:t>
            </a:r>
            <a:r>
              <a:rPr lang="en-US" sz="240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 Supports horizontal scaling for growing data</a:t>
            </a:r>
          </a:p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400" b="1">
                <a:solidFill>
                  <a:srgbClr val="305049"/>
                </a:solidFill>
                <a:latin typeface="Muli Bold"/>
                <a:ea typeface="Muli Bold"/>
                <a:cs typeface="Muli Bold"/>
                <a:sym typeface="Muli Bold"/>
              </a:rPr>
              <a:t>Microservice-Friendly Data Isolation:</a:t>
            </a:r>
            <a:r>
              <a:rPr lang="en-US" sz="2400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 Each microservice maintains its own database hence loose coupling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05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646990" y="1029320"/>
            <a:ext cx="1526842" cy="763421"/>
          </a:xfrm>
          <a:custGeom>
            <a:avLst/>
            <a:gdLst/>
            <a:ahLst/>
            <a:cxnLst/>
            <a:rect l="l" t="t" r="r" b="b"/>
            <a:pathLst>
              <a:path w="1526842" h="763421">
                <a:moveTo>
                  <a:pt x="0" y="0"/>
                </a:moveTo>
                <a:lnTo>
                  <a:pt x="1526841" y="0"/>
                </a:lnTo>
                <a:lnTo>
                  <a:pt x="1526841" y="763420"/>
                </a:lnTo>
                <a:lnTo>
                  <a:pt x="0" y="763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292438" y="704759"/>
            <a:ext cx="10024736" cy="909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39"/>
              </a:lnSpc>
            </a:pPr>
            <a:r>
              <a:rPr lang="en-US" sz="6399" b="1">
                <a:solidFill>
                  <a:srgbClr val="EFD1A9"/>
                </a:solidFill>
                <a:latin typeface="Muli Heavy"/>
                <a:ea typeface="Muli Heavy"/>
                <a:cs typeface="Muli Heavy"/>
                <a:sym typeface="Muli Heavy"/>
              </a:rPr>
              <a:t>Key Features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2163499" y="2117301"/>
            <a:ext cx="10915328" cy="24181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7665" lvl="1" indent="-298832" algn="l">
              <a:lnSpc>
                <a:spcPts val="3875"/>
              </a:lnSpc>
              <a:spcBef>
                <a:spcPct val="0"/>
              </a:spcBef>
              <a:buFont typeface="Arial"/>
              <a:buChar char="•"/>
            </a:pPr>
            <a:r>
              <a:rPr lang="en-US" sz="2768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Role-based dashboards (Customer, Technician, Admin)</a:t>
            </a:r>
          </a:p>
          <a:p>
            <a:pPr marL="597665" lvl="1" indent="-298832" algn="l">
              <a:lnSpc>
                <a:spcPts val="3875"/>
              </a:lnSpc>
              <a:spcBef>
                <a:spcPct val="0"/>
              </a:spcBef>
              <a:buFont typeface="Arial"/>
              <a:buChar char="•"/>
            </a:pPr>
            <a:r>
              <a:rPr lang="en-US" sz="2768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Real-time email notifications</a:t>
            </a:r>
          </a:p>
          <a:p>
            <a:pPr marL="597665" lvl="1" indent="-298832" algn="l">
              <a:lnSpc>
                <a:spcPts val="3875"/>
              </a:lnSpc>
              <a:spcBef>
                <a:spcPct val="0"/>
              </a:spcBef>
              <a:buFont typeface="Arial"/>
              <a:buChar char="•"/>
            </a:pPr>
            <a:r>
              <a:rPr lang="en-US" sz="2768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Modular microservices architecture</a:t>
            </a:r>
          </a:p>
          <a:p>
            <a:pPr marL="597665" lvl="1" indent="-298832" algn="l">
              <a:lnSpc>
                <a:spcPts val="3875"/>
              </a:lnSpc>
              <a:spcBef>
                <a:spcPct val="0"/>
              </a:spcBef>
              <a:buFont typeface="Arial"/>
              <a:buChar char="•"/>
            </a:pPr>
            <a:r>
              <a:rPr lang="en-US" sz="2768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Clean UI with modern design</a:t>
            </a:r>
          </a:p>
          <a:p>
            <a:pPr marL="597665" lvl="1" indent="-298832" algn="l">
              <a:lnSpc>
                <a:spcPts val="3875"/>
              </a:lnSpc>
              <a:spcBef>
                <a:spcPct val="0"/>
              </a:spcBef>
              <a:buFont typeface="Arial"/>
              <a:buChar char="•"/>
            </a:pPr>
            <a:r>
              <a:rPr lang="en-US" sz="2768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Scalable and maintainable backend</a:t>
            </a:r>
          </a:p>
        </p:txBody>
      </p:sp>
      <p:sp>
        <p:nvSpPr>
          <p:cNvPr id="5" name="Freeform 5"/>
          <p:cNvSpPr/>
          <p:nvPr/>
        </p:nvSpPr>
        <p:spPr>
          <a:xfrm rot="-10800000">
            <a:off x="-2292062" y="6785816"/>
            <a:ext cx="7064180" cy="3532090"/>
          </a:xfrm>
          <a:custGeom>
            <a:avLst/>
            <a:gdLst/>
            <a:ahLst/>
            <a:cxnLst/>
            <a:rect l="l" t="t" r="r" b="b"/>
            <a:pathLst>
              <a:path w="7064180" h="3532090">
                <a:moveTo>
                  <a:pt x="0" y="0"/>
                </a:moveTo>
                <a:lnTo>
                  <a:pt x="7064180" y="0"/>
                </a:lnTo>
                <a:lnTo>
                  <a:pt x="7064180" y="3532090"/>
                </a:lnTo>
                <a:lnTo>
                  <a:pt x="0" y="353209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7621163" y="5200650"/>
            <a:ext cx="9638137" cy="909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039"/>
              </a:lnSpc>
            </a:pPr>
            <a:r>
              <a:rPr lang="en-US" sz="6399" b="1" dirty="0">
                <a:solidFill>
                  <a:srgbClr val="EFD1A9"/>
                </a:solidFill>
                <a:latin typeface="Muli Heavy"/>
                <a:ea typeface="Muli Heavy"/>
                <a:cs typeface="Muli Heavy"/>
                <a:sym typeface="Muli Heavy"/>
              </a:rPr>
              <a:t>Challenges &amp; Learnings 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52138" y="6325173"/>
            <a:ext cx="8107162" cy="1931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7665" lvl="1" indent="-298832" algn="l">
              <a:lnSpc>
                <a:spcPts val="3875"/>
              </a:lnSpc>
              <a:spcBef>
                <a:spcPct val="0"/>
              </a:spcBef>
              <a:buFont typeface="Arial"/>
              <a:buChar char="•"/>
            </a:pPr>
            <a:r>
              <a:rPr lang="en-US" sz="2768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Handling service-to-service communication</a:t>
            </a:r>
          </a:p>
          <a:p>
            <a:pPr marL="597665" lvl="1" indent="-298832" algn="l">
              <a:lnSpc>
                <a:spcPts val="3875"/>
              </a:lnSpc>
              <a:spcBef>
                <a:spcPct val="0"/>
              </a:spcBef>
              <a:buFont typeface="Arial"/>
              <a:buChar char="•"/>
            </a:pPr>
            <a:r>
              <a:rPr lang="en-US" sz="2768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Designing scalable microservices</a:t>
            </a:r>
          </a:p>
          <a:p>
            <a:pPr marL="597665" lvl="1" indent="-298832" algn="l">
              <a:lnSpc>
                <a:spcPts val="3875"/>
              </a:lnSpc>
              <a:spcBef>
                <a:spcPct val="0"/>
              </a:spcBef>
              <a:buFont typeface="Arial"/>
              <a:buChar char="•"/>
            </a:pPr>
            <a:r>
              <a:rPr lang="en-US" sz="2768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Integrating the frontend &amp; the backend</a:t>
            </a:r>
          </a:p>
          <a:p>
            <a:pPr marL="597665" lvl="1" indent="-298832" algn="l">
              <a:lnSpc>
                <a:spcPts val="3875"/>
              </a:lnSpc>
              <a:spcBef>
                <a:spcPct val="0"/>
              </a:spcBef>
              <a:buFont typeface="Arial"/>
              <a:buChar char="•"/>
            </a:pPr>
            <a:r>
              <a:rPr lang="en-US" sz="2768" dirty="0">
                <a:solidFill>
                  <a:srgbClr val="F1EEEE"/>
                </a:solidFill>
                <a:latin typeface="Muli"/>
                <a:ea typeface="Muli"/>
                <a:cs typeface="Muli"/>
                <a:sym typeface="Muli"/>
              </a:rPr>
              <a:t>Ensuring UI responsiveness and performance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D1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13096294" y="5716840"/>
            <a:ext cx="10383412" cy="5191706"/>
          </a:xfrm>
          <a:custGeom>
            <a:avLst/>
            <a:gdLst/>
            <a:ahLst/>
            <a:cxnLst/>
            <a:rect l="l" t="t" r="r" b="b"/>
            <a:pathLst>
              <a:path w="10383412" h="5191706">
                <a:moveTo>
                  <a:pt x="0" y="0"/>
                </a:moveTo>
                <a:lnTo>
                  <a:pt x="10383412" y="0"/>
                </a:lnTo>
                <a:lnTo>
                  <a:pt x="10383412" y="5191706"/>
                </a:lnTo>
                <a:lnTo>
                  <a:pt x="0" y="519170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028700" y="895350"/>
            <a:ext cx="9409608" cy="11955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ct val="0"/>
              </a:spcBef>
            </a:pPr>
            <a:r>
              <a:rPr lang="en-US" sz="7000" b="1" u="sng">
                <a:solidFill>
                  <a:srgbClr val="305049"/>
                </a:solidFill>
                <a:latin typeface="Muli Bold"/>
                <a:ea typeface="Muli Bold"/>
                <a:cs typeface="Muli Bold"/>
                <a:sym typeface="Muli Bold"/>
              </a:rPr>
              <a:t>Future Enhancements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2844708"/>
            <a:ext cx="13049923" cy="54679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1339" lvl="1" indent="-280669" algn="just">
              <a:lnSpc>
                <a:spcPts val="3639"/>
              </a:lnSpc>
              <a:buFont typeface="Arial"/>
              <a:buChar char="•"/>
            </a:pPr>
            <a:r>
              <a:rPr lang="en-US" sz="2599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Payment gateway integration (UPI, cards, wallets)</a:t>
            </a:r>
          </a:p>
          <a:p>
            <a:pPr marL="561339" lvl="1" indent="-280669" algn="just">
              <a:lnSpc>
                <a:spcPts val="3639"/>
              </a:lnSpc>
              <a:spcBef>
                <a:spcPct val="0"/>
              </a:spcBef>
              <a:buFont typeface="Arial"/>
              <a:buChar char="•"/>
            </a:pPr>
            <a:r>
              <a:rPr lang="en-US" sz="2599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Automated invoice generation after service completion</a:t>
            </a:r>
          </a:p>
          <a:p>
            <a:pPr marL="561339" lvl="1" indent="-280669" algn="just">
              <a:lnSpc>
                <a:spcPts val="3639"/>
              </a:lnSpc>
              <a:spcBef>
                <a:spcPct val="0"/>
              </a:spcBef>
              <a:buFont typeface="Arial"/>
              <a:buChar char="•"/>
            </a:pPr>
            <a:r>
              <a:rPr lang="en-US" sz="2599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Refund and cancellation handling</a:t>
            </a:r>
          </a:p>
          <a:p>
            <a:pPr marL="561339" lvl="1" indent="-280669" algn="just">
              <a:lnSpc>
                <a:spcPts val="3639"/>
              </a:lnSpc>
              <a:spcBef>
                <a:spcPct val="0"/>
              </a:spcBef>
              <a:buFont typeface="Arial"/>
              <a:buChar char="•"/>
            </a:pPr>
            <a:r>
              <a:rPr lang="en-US" sz="2599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Advanced admin analytics dashboard</a:t>
            </a:r>
          </a:p>
          <a:p>
            <a:pPr marL="561339" lvl="1" indent="-280669" algn="just">
              <a:lnSpc>
                <a:spcPts val="3639"/>
              </a:lnSpc>
              <a:spcBef>
                <a:spcPct val="0"/>
              </a:spcBef>
              <a:buFont typeface="Arial"/>
              <a:buChar char="•"/>
            </a:pPr>
            <a:r>
              <a:rPr lang="en-US" sz="2599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Revenue, service demand, and technician performance insights</a:t>
            </a:r>
          </a:p>
          <a:p>
            <a:pPr marL="561339" lvl="1" indent="-280669" algn="just">
              <a:lnSpc>
                <a:spcPts val="3639"/>
              </a:lnSpc>
              <a:spcBef>
                <a:spcPct val="0"/>
              </a:spcBef>
              <a:buFont typeface="Arial"/>
              <a:buChar char="•"/>
            </a:pPr>
            <a:r>
              <a:rPr lang="en-US" sz="2599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Customer booking trends and peak time analysis</a:t>
            </a:r>
          </a:p>
          <a:p>
            <a:pPr marL="561339" lvl="1" indent="-280669" algn="just">
              <a:lnSpc>
                <a:spcPts val="3639"/>
              </a:lnSpc>
              <a:spcBef>
                <a:spcPct val="0"/>
              </a:spcBef>
              <a:buFont typeface="Arial"/>
              <a:buChar char="•"/>
            </a:pPr>
            <a:r>
              <a:rPr lang="en-US" sz="2599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Technician approval &amp; verification dashboard for admins</a:t>
            </a:r>
          </a:p>
          <a:p>
            <a:pPr marL="561339" lvl="1" indent="-280669" algn="just">
              <a:lnSpc>
                <a:spcPts val="3639"/>
              </a:lnSpc>
              <a:spcBef>
                <a:spcPct val="0"/>
              </a:spcBef>
              <a:buFont typeface="Arial"/>
              <a:buChar char="•"/>
            </a:pPr>
            <a:r>
              <a:rPr lang="en-US" sz="2599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Performance metrics and skill-based technician ranking</a:t>
            </a:r>
          </a:p>
          <a:p>
            <a:pPr marL="561339" lvl="1" indent="-280669" algn="just">
              <a:lnSpc>
                <a:spcPts val="3639"/>
              </a:lnSpc>
              <a:spcBef>
                <a:spcPct val="0"/>
              </a:spcBef>
              <a:buFont typeface="Arial"/>
              <a:buChar char="•"/>
            </a:pPr>
            <a:r>
              <a:rPr lang="en-US" sz="2599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Rating &amp; Feedback System</a:t>
            </a:r>
          </a:p>
          <a:p>
            <a:pPr marL="561339" lvl="1" indent="-280669" algn="just">
              <a:lnSpc>
                <a:spcPts val="3639"/>
              </a:lnSpc>
              <a:spcBef>
                <a:spcPct val="0"/>
              </a:spcBef>
              <a:buFont typeface="Arial"/>
              <a:buChar char="•"/>
            </a:pPr>
            <a:r>
              <a:rPr lang="en-US" sz="2599">
                <a:solidFill>
                  <a:srgbClr val="305049"/>
                </a:solidFill>
                <a:latin typeface="Muli"/>
                <a:ea typeface="Muli"/>
                <a:cs typeface="Muli"/>
                <a:sym typeface="Muli"/>
              </a:rPr>
              <a:t>Auto-assignment of technicians based on: Location/Availability/Skill match/Customer ratings</a:t>
            </a:r>
          </a:p>
          <a:p>
            <a:pPr algn="just">
              <a:lnSpc>
                <a:spcPts val="3639"/>
              </a:lnSpc>
              <a:spcBef>
                <a:spcPct val="0"/>
              </a:spcBef>
            </a:pPr>
            <a:endParaRPr lang="en-US" sz="2599">
              <a:solidFill>
                <a:srgbClr val="305049"/>
              </a:solidFill>
              <a:latin typeface="Muli"/>
              <a:ea typeface="Muli"/>
              <a:cs typeface="Muli"/>
              <a:sym typeface="Mul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05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622193" y="3202289"/>
            <a:ext cx="11043614" cy="3882422"/>
            <a:chOff x="0" y="0"/>
            <a:chExt cx="14724819" cy="5176562"/>
          </a:xfrm>
        </p:grpSpPr>
        <p:sp>
          <p:nvSpPr>
            <p:cNvPr id="3" name="TextBox 3"/>
            <p:cNvSpPr txBox="1"/>
            <p:nvPr/>
          </p:nvSpPr>
          <p:spPr>
            <a:xfrm>
              <a:off x="0" y="-152400"/>
              <a:ext cx="14724819" cy="187114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1899"/>
                </a:lnSpc>
                <a:spcBef>
                  <a:spcPct val="0"/>
                </a:spcBef>
              </a:pPr>
              <a:r>
                <a:rPr lang="en-US" sz="8499" b="1" u="sng">
                  <a:solidFill>
                    <a:srgbClr val="EFD1A9"/>
                  </a:solidFill>
                  <a:latin typeface="Muli Bold"/>
                  <a:ea typeface="Muli Bold"/>
                  <a:cs typeface="Muli Bold"/>
                  <a:sym typeface="Muli Bold"/>
                </a:rPr>
                <a:t>Thank You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2824476"/>
              <a:ext cx="14724819" cy="8585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59"/>
                </a:lnSpc>
                <a:spcBef>
                  <a:spcPct val="0"/>
                </a:spcBef>
              </a:pPr>
              <a:r>
                <a:rPr lang="en-US" sz="3899">
                  <a:solidFill>
                    <a:srgbClr val="F1EEEE"/>
                  </a:solidFill>
                  <a:latin typeface="Muli"/>
                  <a:ea typeface="Muli"/>
                  <a:cs typeface="Muli"/>
                  <a:sym typeface="Muli"/>
                </a:rPr>
                <a:t>NexaHome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4318041"/>
              <a:ext cx="14724819" cy="85852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5459"/>
                </a:lnSpc>
                <a:spcBef>
                  <a:spcPct val="0"/>
                </a:spcBef>
              </a:pPr>
              <a:r>
                <a:rPr lang="en-US" sz="3899">
                  <a:solidFill>
                    <a:srgbClr val="F1EEEE"/>
                  </a:solidFill>
                  <a:latin typeface="Muli"/>
                  <a:ea typeface="Muli"/>
                  <a:cs typeface="Muli"/>
                  <a:sym typeface="Muli"/>
                </a:rPr>
                <a:t>By : Nayna Bisht</a:t>
              </a:r>
            </a:p>
          </p:txBody>
        </p:sp>
      </p:grpSp>
      <p:sp>
        <p:nvSpPr>
          <p:cNvPr id="6" name="Freeform 6"/>
          <p:cNvSpPr/>
          <p:nvPr/>
        </p:nvSpPr>
        <p:spPr>
          <a:xfrm rot="-5400000">
            <a:off x="-2303377" y="3896126"/>
            <a:ext cx="7059313" cy="2494747"/>
          </a:xfrm>
          <a:custGeom>
            <a:avLst/>
            <a:gdLst/>
            <a:ahLst/>
            <a:cxnLst/>
            <a:rect l="l" t="t" r="r" b="b"/>
            <a:pathLst>
              <a:path w="7059313" h="2494747">
                <a:moveTo>
                  <a:pt x="0" y="0"/>
                </a:moveTo>
                <a:lnTo>
                  <a:pt x="7059312" y="0"/>
                </a:lnTo>
                <a:lnTo>
                  <a:pt x="7059312" y="2494748"/>
                </a:lnTo>
                <a:lnTo>
                  <a:pt x="0" y="24947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1581" r="-68"/>
            </a:stretch>
          </a:blipFill>
        </p:spPr>
      </p:sp>
      <p:sp>
        <p:nvSpPr>
          <p:cNvPr id="7" name="Freeform 7"/>
          <p:cNvSpPr/>
          <p:nvPr/>
        </p:nvSpPr>
        <p:spPr>
          <a:xfrm rot="5400000">
            <a:off x="13510970" y="3896126"/>
            <a:ext cx="7059313" cy="2494747"/>
          </a:xfrm>
          <a:custGeom>
            <a:avLst/>
            <a:gdLst/>
            <a:ahLst/>
            <a:cxnLst/>
            <a:rect l="l" t="t" r="r" b="b"/>
            <a:pathLst>
              <a:path w="7059313" h="2494747">
                <a:moveTo>
                  <a:pt x="0" y="0"/>
                </a:moveTo>
                <a:lnTo>
                  <a:pt x="7059313" y="0"/>
                </a:lnTo>
                <a:lnTo>
                  <a:pt x="7059313" y="2494748"/>
                </a:lnTo>
                <a:lnTo>
                  <a:pt x="0" y="249474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t="-41581" r="-68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490</Words>
  <Application>Microsoft Office PowerPoint</Application>
  <PresentationFormat>Custom</PresentationFormat>
  <Paragraphs>109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Calibri</vt:lpstr>
      <vt:lpstr>Arial</vt:lpstr>
      <vt:lpstr>Muli Heavy</vt:lpstr>
      <vt:lpstr>Muli Semi-Bold</vt:lpstr>
      <vt:lpstr>Muli</vt:lpstr>
      <vt:lpstr>Muli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Service Management System</dc:title>
  <cp:lastModifiedBy>NAYNA BISHT</cp:lastModifiedBy>
  <cp:revision>2</cp:revision>
  <dcterms:created xsi:type="dcterms:W3CDTF">2006-08-16T00:00:00Z</dcterms:created>
  <dcterms:modified xsi:type="dcterms:W3CDTF">2026-01-06T20:25:21Z</dcterms:modified>
  <dc:identifier>DAG9qB2Byts</dc:identifier>
</cp:coreProperties>
</file>