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9" r:id="rId8"/>
    <p:sldId id="270" r:id="rId9"/>
    <p:sldId id="271" r:id="rId10"/>
    <p:sldId id="268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/>
  <p:notesSz cx="6858000" cy="9144000"/>
  <p:embeddedFontLst>
    <p:embeddedFont>
      <p:font typeface="Muli" panose="020B0604020202020204" charset="0"/>
      <p:regular r:id="rId18"/>
    </p:embeddedFont>
    <p:embeddedFont>
      <p:font typeface="Muli Bold" panose="020B0604020202020204" charset="0"/>
      <p:regular r:id="rId19"/>
    </p:embeddedFont>
    <p:embeddedFont>
      <p:font typeface="Muli Heavy" panose="020B0604020202020204" charset="0"/>
      <p:regular r:id="rId20"/>
    </p:embeddedFont>
    <p:embeddedFont>
      <p:font typeface="Muli Semi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20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646990" y="2859325"/>
            <a:ext cx="1526842" cy="763421"/>
          </a:xfrm>
          <a:custGeom>
            <a:avLst/>
            <a:gdLst/>
            <a:ahLst/>
            <a:cxnLst/>
            <a:rect l="l" t="t" r="r" b="b"/>
            <a:pathLst>
              <a:path w="1526842" h="763421">
                <a:moveTo>
                  <a:pt x="0" y="0"/>
                </a:moveTo>
                <a:lnTo>
                  <a:pt x="1526841" y="0"/>
                </a:lnTo>
                <a:lnTo>
                  <a:pt x="1526841" y="763420"/>
                </a:lnTo>
                <a:lnTo>
                  <a:pt x="0" y="763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8554341" y="3429092"/>
            <a:ext cx="18554862" cy="9277431"/>
          </a:xfrm>
          <a:custGeom>
            <a:avLst/>
            <a:gdLst/>
            <a:ahLst/>
            <a:cxnLst/>
            <a:rect l="l" t="t" r="r" b="b"/>
            <a:pathLst>
              <a:path w="18554862" h="9277431">
                <a:moveTo>
                  <a:pt x="0" y="0"/>
                </a:moveTo>
                <a:lnTo>
                  <a:pt x="18554863" y="0"/>
                </a:lnTo>
                <a:lnTo>
                  <a:pt x="18554863" y="9277431"/>
                </a:lnTo>
                <a:lnTo>
                  <a:pt x="0" y="9277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569934" y="2477614"/>
            <a:ext cx="15261838" cy="2665886"/>
            <a:chOff x="0" y="0"/>
            <a:chExt cx="20349118" cy="3554514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20349118" cy="1554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>
                  <a:solidFill>
                    <a:srgbClr val="EFD1A9"/>
                  </a:solidFill>
                  <a:latin typeface="Muli Heavy"/>
                  <a:ea typeface="Muli Heavy"/>
                  <a:cs typeface="Muli Heavy"/>
                  <a:sym typeface="Muli Heavy"/>
                </a:rPr>
                <a:t>Service Management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177153"/>
              <a:ext cx="9727756" cy="1377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spc="165">
                  <a:solidFill>
                    <a:srgbClr val="F1EEEE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MICROSERVICES-BASED HOME SERVICES APPLICATION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771648" y="7143750"/>
            <a:ext cx="4487652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165">
                <a:solidFill>
                  <a:srgbClr val="F1EEEE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CAPSTONE PROJECT</a:t>
            </a:r>
          </a:p>
          <a:p>
            <a:pPr algn="l">
              <a:lnSpc>
                <a:spcPts val="4200"/>
              </a:lnSpc>
            </a:pPr>
            <a:r>
              <a:rPr lang="en-US" sz="3000" b="1" spc="165">
                <a:solidFill>
                  <a:srgbClr val="F1EEEE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CHUBB - JAVA TRACK</a:t>
            </a:r>
          </a:p>
          <a:p>
            <a:pPr algn="l">
              <a:lnSpc>
                <a:spcPts val="4200"/>
              </a:lnSpc>
            </a:pPr>
            <a:endParaRPr lang="en-US" sz="3000" b="1" spc="165">
              <a:solidFill>
                <a:srgbClr val="F1EEEE"/>
              </a:solidFill>
              <a:latin typeface="Muli Semi-Bold"/>
              <a:ea typeface="Muli Semi-Bold"/>
              <a:cs typeface="Muli Semi-Bold"/>
              <a:sym typeface="Muli Semi-Bold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165">
                <a:solidFill>
                  <a:srgbClr val="F1EEEE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BY : NAYNA BISHT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23670" y="1190318"/>
            <a:ext cx="552895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6765" b="1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NexaHome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46521" y="1019175"/>
            <a:ext cx="6860308" cy="243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Project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907051"/>
            <a:ext cx="7678129" cy="501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A full-stack web application for managing home services such as plumbing, ac repair, cleaning, etc.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Enables customers to book services, technicians to accept jobs, and admins to manage operations.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Built using microservices architecture for scalability and maintainability.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Supports real-time notifications and role-based access.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305049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" name="Freeform 4"/>
          <p:cNvSpPr/>
          <p:nvPr/>
        </p:nvSpPr>
        <p:spPr>
          <a:xfrm rot="-5400000">
            <a:off x="799980" y="1381033"/>
            <a:ext cx="914880" cy="457440"/>
          </a:xfrm>
          <a:custGeom>
            <a:avLst/>
            <a:gdLst/>
            <a:ahLst/>
            <a:cxnLst/>
            <a:rect l="l" t="t" r="r" b="b"/>
            <a:pathLst>
              <a:path w="914880" h="457440">
                <a:moveTo>
                  <a:pt x="0" y="0"/>
                </a:moveTo>
                <a:lnTo>
                  <a:pt x="914880" y="0"/>
                </a:lnTo>
                <a:lnTo>
                  <a:pt x="914880" y="457440"/>
                </a:lnTo>
                <a:lnTo>
                  <a:pt x="0" y="45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398992" y="1019175"/>
            <a:ext cx="6860308" cy="243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System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81171" y="3907051"/>
            <a:ext cx="7678129" cy="409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Centralized API Gateway for routing and authentication.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Independent microservices for each business function.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Event-driven communication using RabbitMQ for notifications.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Frontend built with Angular for a responsive user experience.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305049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949320" y="9037505"/>
            <a:ext cx="12389360" cy="460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Customer → Booking → Assignment → Technician → Notification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1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799980" y="1400048"/>
            <a:ext cx="914880" cy="457440"/>
          </a:xfrm>
          <a:custGeom>
            <a:avLst/>
            <a:gdLst/>
            <a:ahLst/>
            <a:cxnLst/>
            <a:rect l="l" t="t" r="r" b="b"/>
            <a:pathLst>
              <a:path w="914880" h="457440">
                <a:moveTo>
                  <a:pt x="0" y="0"/>
                </a:moveTo>
                <a:lnTo>
                  <a:pt x="914880" y="0"/>
                </a:lnTo>
                <a:lnTo>
                  <a:pt x="914880" y="457440"/>
                </a:lnTo>
                <a:lnTo>
                  <a:pt x="0" y="45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22581" y="1019175"/>
            <a:ext cx="14541858" cy="122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User Roles &amp; Responsibilities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392252" y="6654730"/>
            <a:ext cx="6613113" cy="2613095"/>
            <a:chOff x="0" y="0"/>
            <a:chExt cx="8817484" cy="3484127"/>
          </a:xfrm>
        </p:grpSpPr>
        <p:sp>
          <p:nvSpPr>
            <p:cNvPr id="5" name="TextBox 5"/>
            <p:cNvSpPr txBox="1"/>
            <p:nvPr/>
          </p:nvSpPr>
          <p:spPr>
            <a:xfrm>
              <a:off x="0" y="-57150"/>
              <a:ext cx="8817484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305049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ADMIN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86155"/>
              <a:ext cx="8817484" cy="2397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Create and manage services &amp; categories</a:t>
              </a:r>
            </a:p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Monitor overall system operations</a:t>
              </a:r>
            </a:p>
            <a:p>
              <a:pPr algn="l">
                <a:lnSpc>
                  <a:spcPts val="3639"/>
                </a:lnSpc>
                <a:spcBef>
                  <a:spcPct val="0"/>
                </a:spcBef>
              </a:pPr>
              <a:endParaRPr lang="en-US" sz="2599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209800" y="3004683"/>
            <a:ext cx="6613113" cy="3517971"/>
            <a:chOff x="0" y="0"/>
            <a:chExt cx="8817484" cy="4690627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8817484" cy="64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305049"/>
                  </a:solidFill>
                  <a:latin typeface="Muli Bold"/>
                  <a:ea typeface="Muli Bold"/>
                  <a:cs typeface="Muli Bold"/>
                  <a:sym typeface="Muli Bold"/>
                </a:rPr>
                <a:t>CUSTOMER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073456"/>
              <a:ext cx="8817484" cy="3617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just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Browse available services and categories</a:t>
              </a:r>
            </a:p>
            <a:p>
              <a:pPr marL="561339" lvl="1" indent="-280669" algn="just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Book services with date and time slots</a:t>
              </a:r>
            </a:p>
            <a:p>
              <a:pPr marL="561339" lvl="1" indent="-280669" algn="just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View booking history and status</a:t>
              </a:r>
            </a:p>
            <a:p>
              <a:pPr marL="561339" lvl="1" indent="-280669" algn="just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Receive email notifications</a:t>
              </a:r>
            </a:p>
            <a:p>
              <a:pPr algn="just">
                <a:lnSpc>
                  <a:spcPts val="3639"/>
                </a:lnSpc>
                <a:spcBef>
                  <a:spcPct val="0"/>
                </a:spcBef>
              </a:pPr>
              <a:endParaRPr lang="en-US" sz="2599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60752" y="2968964"/>
            <a:ext cx="6613113" cy="3527495"/>
            <a:chOff x="0" y="0"/>
            <a:chExt cx="8817484" cy="470332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7150"/>
              <a:ext cx="8817484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305049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TECHNICIAN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86155"/>
              <a:ext cx="8817484" cy="3617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Onboard and submit profile for verification</a:t>
              </a:r>
            </a:p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View assigned jobs</a:t>
              </a:r>
            </a:p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Accept and update assignment status</a:t>
              </a:r>
            </a:p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Complete service tasks</a:t>
              </a:r>
            </a:p>
            <a:p>
              <a:pPr algn="l">
                <a:lnSpc>
                  <a:spcPts val="3639"/>
                </a:lnSpc>
                <a:spcBef>
                  <a:spcPct val="0"/>
                </a:spcBef>
              </a:pPr>
              <a:endParaRPr lang="en-US" sz="2599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82635" y="6453597"/>
            <a:ext cx="6613113" cy="2668424"/>
            <a:chOff x="0" y="-57150"/>
            <a:chExt cx="8817484" cy="355789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57150"/>
              <a:ext cx="8817484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305049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SERVICE MANAGER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086155"/>
              <a:ext cx="8817484" cy="24145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Verify technicians</a:t>
              </a:r>
            </a:p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Assign or reassign technicians to bookings</a:t>
              </a:r>
            </a:p>
            <a:p>
              <a:pPr marL="561339" lvl="1" indent="-280669" algn="l">
                <a:lnSpc>
                  <a:spcPts val="36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99" dirty="0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Cancel bookings (if required)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243371" y="6634783"/>
            <a:ext cx="10494067" cy="5247033"/>
          </a:xfrm>
          <a:custGeom>
            <a:avLst/>
            <a:gdLst/>
            <a:ahLst/>
            <a:cxnLst/>
            <a:rect l="l" t="t" r="r" b="b"/>
            <a:pathLst>
              <a:path w="10494067" h="5247033">
                <a:moveTo>
                  <a:pt x="0" y="0"/>
                </a:moveTo>
                <a:lnTo>
                  <a:pt x="10494067" y="0"/>
                </a:lnTo>
                <a:lnTo>
                  <a:pt x="10494067" y="5247034"/>
                </a:lnTo>
                <a:lnTo>
                  <a:pt x="0" y="5247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55511" y="2519198"/>
            <a:ext cx="15203789" cy="755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2" b="1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API Gateway</a:t>
            </a:r>
            <a:r>
              <a:rPr lang="en-US" sz="2652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 – Central entry point for all requests</a:t>
            </a:r>
          </a:p>
          <a:p>
            <a:pPr algn="l">
              <a:lnSpc>
                <a:spcPts val="3714"/>
              </a:lnSpc>
              <a:spcBef>
                <a:spcPct val="0"/>
              </a:spcBef>
            </a:pP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2" b="1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Auth Service</a:t>
            </a:r>
            <a:r>
              <a:rPr lang="en-US" sz="2652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 – Authentication and role-based authorization</a:t>
            </a:r>
          </a:p>
          <a:p>
            <a:pPr algn="l">
              <a:lnSpc>
                <a:spcPts val="3714"/>
              </a:lnSpc>
              <a:spcBef>
                <a:spcPct val="0"/>
              </a:spcBef>
            </a:pP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2" b="1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Service Management Service</a:t>
            </a:r>
            <a:r>
              <a:rPr lang="en-US" sz="2652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 – Manages services and categories (Admin/Service Manager)</a:t>
            </a:r>
          </a:p>
          <a:p>
            <a:pPr algn="l">
              <a:lnSpc>
                <a:spcPts val="3714"/>
              </a:lnSpc>
              <a:spcBef>
                <a:spcPct val="0"/>
              </a:spcBef>
            </a:pP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2" b="1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Booking Service</a:t>
            </a:r>
            <a:r>
              <a:rPr lang="en-US" sz="2652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 – Handles customer bookings and scheduling (Customer)</a:t>
            </a:r>
          </a:p>
          <a:p>
            <a:pPr algn="l">
              <a:lnSpc>
                <a:spcPts val="3714"/>
              </a:lnSpc>
              <a:spcBef>
                <a:spcPct val="0"/>
              </a:spcBef>
            </a:pP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2" b="1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Assignment Service </a:t>
            </a:r>
            <a:r>
              <a:rPr lang="en-US" sz="2652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– Assigns technicians to bookings (Service Manager)</a:t>
            </a:r>
          </a:p>
          <a:p>
            <a:pPr algn="l">
              <a:lnSpc>
                <a:spcPts val="3714"/>
              </a:lnSpc>
              <a:spcBef>
                <a:spcPct val="0"/>
              </a:spcBef>
            </a:pP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2" b="1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Technician Service</a:t>
            </a:r>
            <a:r>
              <a:rPr lang="en-US" sz="2652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 – Technician onboarding and verification (Technician)</a:t>
            </a:r>
          </a:p>
          <a:p>
            <a:pPr algn="l">
              <a:lnSpc>
                <a:spcPts val="3714"/>
              </a:lnSpc>
              <a:spcBef>
                <a:spcPct val="0"/>
              </a:spcBef>
            </a:pP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2" b="1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Notification Service </a:t>
            </a:r>
            <a:r>
              <a:rPr lang="en-US" sz="2652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– Sends email updates via RabbitMQ</a:t>
            </a:r>
          </a:p>
          <a:p>
            <a:pPr algn="l">
              <a:lnSpc>
                <a:spcPts val="3714"/>
              </a:lnSpc>
              <a:spcBef>
                <a:spcPct val="0"/>
              </a:spcBef>
            </a:pP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714"/>
              </a:lnSpc>
              <a:spcBef>
                <a:spcPct val="0"/>
              </a:spcBef>
            </a:pPr>
            <a:r>
              <a:rPr lang="en-US" sz="2652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(Eureka Server &amp; Config Server)</a:t>
            </a: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714"/>
              </a:lnSpc>
              <a:spcBef>
                <a:spcPct val="0"/>
              </a:spcBef>
            </a:pPr>
            <a:endParaRPr lang="en-US" sz="2652" dirty="0">
              <a:solidFill>
                <a:srgbClr val="F1EEEE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" name="Freeform 4"/>
          <p:cNvSpPr/>
          <p:nvPr/>
        </p:nvSpPr>
        <p:spPr>
          <a:xfrm rot="-5400000">
            <a:off x="727752" y="1329648"/>
            <a:ext cx="1203791" cy="601895"/>
          </a:xfrm>
          <a:custGeom>
            <a:avLst/>
            <a:gdLst/>
            <a:ahLst/>
            <a:cxnLst/>
            <a:rect l="l" t="t" r="r" b="b"/>
            <a:pathLst>
              <a:path w="1203791" h="601895">
                <a:moveTo>
                  <a:pt x="0" y="0"/>
                </a:moveTo>
                <a:lnTo>
                  <a:pt x="1203791" y="0"/>
                </a:lnTo>
                <a:lnTo>
                  <a:pt x="1203791" y="601895"/>
                </a:lnTo>
                <a:lnTo>
                  <a:pt x="0" y="601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55511" y="828785"/>
            <a:ext cx="15261838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Microservices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95107"/>
            <a:ext cx="18288000" cy="9696787"/>
          </a:xfrm>
          <a:custGeom>
            <a:avLst/>
            <a:gdLst/>
            <a:ahLst/>
            <a:cxnLst/>
            <a:rect l="l" t="t" r="r" b="b"/>
            <a:pathLst>
              <a:path w="18288000" h="9696787">
                <a:moveTo>
                  <a:pt x="0" y="0"/>
                </a:moveTo>
                <a:lnTo>
                  <a:pt x="18288000" y="0"/>
                </a:lnTo>
                <a:lnTo>
                  <a:pt x="18288000" y="9696786"/>
                </a:lnTo>
                <a:lnTo>
                  <a:pt x="0" y="9696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551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22E30-59B0-0389-6569-48A646FB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68519"/>
            <a:ext cx="7653337" cy="101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92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8BA5D8-38FD-A1C4-4FC3-49A8D5E56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" y="0"/>
            <a:ext cx="685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8503C8-8B10-A506-B29B-7343A7B89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5810"/>
            <a:ext cx="10896600" cy="1018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3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A02278-BFF7-C33B-EE51-159348D3C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"/>
            <a:ext cx="18239360" cy="95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623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DEF2E-07EE-22F8-423B-C0CC1AA89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564" y="38100"/>
            <a:ext cx="7954485" cy="5191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B61EE7-DA98-0363-3D52-691C7ADA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91850"/>
            <a:ext cx="10839965" cy="5095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107CD4-39EB-D6B8-5583-6C69956C0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965" y="0"/>
            <a:ext cx="7445577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3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125623-76F2-A90D-FB2B-D9E0BDF91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0"/>
            <a:ext cx="9625364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9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1440"/>
            <a:ext cx="18288000" cy="9166860"/>
          </a:xfrm>
          <a:custGeom>
            <a:avLst/>
            <a:gdLst/>
            <a:ahLst/>
            <a:cxnLst/>
            <a:rect l="l" t="t" r="r" b="b"/>
            <a:pathLst>
              <a:path w="18288000" h="9166860">
                <a:moveTo>
                  <a:pt x="0" y="0"/>
                </a:moveTo>
                <a:lnTo>
                  <a:pt x="18288000" y="0"/>
                </a:lnTo>
                <a:lnTo>
                  <a:pt x="18288000" y="9166860"/>
                </a:lnTo>
                <a:lnTo>
                  <a:pt x="0" y="916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15564" y="9458654"/>
            <a:ext cx="7544007" cy="82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1"/>
              </a:lnSpc>
              <a:spcBef>
                <a:spcPct val="0"/>
              </a:spcBef>
            </a:pPr>
            <a:r>
              <a:rPr lang="en-US" sz="4915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Website Landing Page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6863934" cy="10287000"/>
          </a:xfrm>
          <a:custGeom>
            <a:avLst/>
            <a:gdLst/>
            <a:ahLst/>
            <a:cxnLst/>
            <a:rect l="l" t="t" r="r" b="b"/>
            <a:pathLst>
              <a:path w="16863934" h="10287000">
                <a:moveTo>
                  <a:pt x="0" y="0"/>
                </a:moveTo>
                <a:lnTo>
                  <a:pt x="16863934" y="0"/>
                </a:lnTo>
                <a:lnTo>
                  <a:pt x="168639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863934" y="9525"/>
            <a:ext cx="1045672" cy="1027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S</a:t>
            </a:r>
          </a:p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E</a:t>
            </a:r>
          </a:p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R</a:t>
            </a:r>
          </a:p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V</a:t>
            </a:r>
          </a:p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I</a:t>
            </a:r>
          </a:p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C</a:t>
            </a:r>
          </a:p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E</a:t>
            </a:r>
          </a:p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1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50467" y="885825"/>
            <a:ext cx="10508833" cy="108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1"/>
              </a:lnSpc>
              <a:spcBef>
                <a:spcPct val="0"/>
              </a:spcBef>
            </a:pPr>
            <a:r>
              <a:rPr lang="en-US" sz="6422" b="1" u="sng">
                <a:solidFill>
                  <a:srgbClr val="305049"/>
                </a:solidFill>
                <a:latin typeface="Muli Bold"/>
                <a:ea typeface="Muli Bold"/>
                <a:cs typeface="Muli Bold"/>
                <a:sym typeface="Muli Bold"/>
              </a:rPr>
              <a:t>Technology Stack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5439" y="2218347"/>
            <a:ext cx="5637525" cy="432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402" b="1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Backend</a:t>
            </a:r>
          </a:p>
          <a:p>
            <a:pPr marL="518610" lvl="1" indent="-259305" algn="l">
              <a:lnSpc>
                <a:spcPts val="3362"/>
              </a:lnSpc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Java, Spring Boot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Spring Security (JWT Authentication)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REST APIs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endParaRPr lang="en-US" sz="2402" dirty="0">
              <a:solidFill>
                <a:srgbClr val="305049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362"/>
              </a:lnSpc>
              <a:spcBef>
                <a:spcPct val="0"/>
              </a:spcBef>
            </a:pPr>
            <a:r>
              <a:rPr lang="en-US" sz="2402" b="1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Frontend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Angular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Tailwind / CSS for UI design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endParaRPr lang="en-US" sz="2402" dirty="0">
              <a:solidFill>
                <a:srgbClr val="305049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" name="Freeform 4"/>
          <p:cNvSpPr/>
          <p:nvPr/>
        </p:nvSpPr>
        <p:spPr>
          <a:xfrm rot="-5400000">
            <a:off x="-3066153" y="2436744"/>
            <a:ext cx="10827025" cy="5413512"/>
          </a:xfrm>
          <a:custGeom>
            <a:avLst/>
            <a:gdLst/>
            <a:ahLst/>
            <a:cxnLst/>
            <a:rect l="l" t="t" r="r" b="b"/>
            <a:pathLst>
              <a:path w="10827025" h="5413512">
                <a:moveTo>
                  <a:pt x="0" y="0"/>
                </a:moveTo>
                <a:lnTo>
                  <a:pt x="10827024" y="0"/>
                </a:lnTo>
                <a:lnTo>
                  <a:pt x="10827024" y="5413512"/>
                </a:lnTo>
                <a:lnTo>
                  <a:pt x="0" y="541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621775" y="2218347"/>
            <a:ext cx="5637525" cy="476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2"/>
              </a:lnSpc>
              <a:spcBef>
                <a:spcPct val="0"/>
              </a:spcBef>
            </a:pPr>
            <a:r>
              <a:rPr lang="en-US" sz="2402" b="1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Database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MongoDB (NoSQL)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endParaRPr lang="en-US" sz="2402" dirty="0">
              <a:solidFill>
                <a:srgbClr val="305049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362"/>
              </a:lnSpc>
              <a:spcBef>
                <a:spcPct val="0"/>
              </a:spcBef>
            </a:pPr>
            <a:r>
              <a:rPr lang="en-US" sz="2402" b="1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Messaging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RabbitMQ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endParaRPr lang="en-US" sz="2402" dirty="0">
              <a:solidFill>
                <a:srgbClr val="305049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3362"/>
              </a:lnSpc>
              <a:spcBef>
                <a:spcPct val="0"/>
              </a:spcBef>
            </a:pPr>
            <a:r>
              <a:rPr lang="en-US" sz="2402" b="1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DevOps &amp; Quality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Docker, Docker Compose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SonarQube for code quality</a:t>
            </a:r>
          </a:p>
          <a:p>
            <a:pPr marL="518610" lvl="1" indent="-259305" algn="l">
              <a:lnSpc>
                <a:spcPts val="3362"/>
              </a:lnSpc>
              <a:spcBef>
                <a:spcPct val="0"/>
              </a:spcBef>
              <a:buFont typeface="Arial"/>
              <a:buChar char="•"/>
            </a:pPr>
            <a:r>
              <a:rPr lang="en-US" sz="2402" dirty="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Jenkins Pipeline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endParaRPr lang="en-US" sz="2402" dirty="0">
              <a:solidFill>
                <a:srgbClr val="305049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54115" y="7669769"/>
            <a:ext cx="254704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305049"/>
                </a:solidFill>
                <a:latin typeface="Muli Bold"/>
                <a:ea typeface="Muli Bold"/>
                <a:cs typeface="Muli Bold"/>
                <a:sym typeface="Muli Bold"/>
              </a:rPr>
              <a:t>Why MongoDB?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81690" y="7043659"/>
            <a:ext cx="9175322" cy="292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305049"/>
                </a:solidFill>
                <a:latin typeface="Muli Bold"/>
                <a:ea typeface="Muli Bold"/>
                <a:cs typeface="Muli Bold"/>
                <a:sym typeface="Muli Bold"/>
              </a:rPr>
              <a:t>Schema-flexible:</a:t>
            </a:r>
            <a:r>
              <a:rPr lang="en-US" sz="24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 Easily handles evolving data models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305049"/>
                </a:solidFill>
                <a:latin typeface="Muli Bold"/>
                <a:ea typeface="Muli Bold"/>
                <a:cs typeface="Muli Bold"/>
                <a:sym typeface="Muli Bold"/>
              </a:rPr>
              <a:t>Document-centric data model:</a:t>
            </a:r>
            <a:r>
              <a:rPr lang="en-US" sz="24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 Ideal for nested JSON-like data used in microservices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305049"/>
                </a:solidFill>
                <a:latin typeface="Muli Bold"/>
                <a:ea typeface="Muli Bold"/>
                <a:cs typeface="Muli Bold"/>
                <a:sym typeface="Muli Bold"/>
              </a:rPr>
              <a:t>High performance:</a:t>
            </a:r>
            <a:r>
              <a:rPr lang="en-US" sz="24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 Fast read/write operations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305049"/>
                </a:solidFill>
                <a:latin typeface="Muli Bold"/>
                <a:ea typeface="Muli Bold"/>
                <a:cs typeface="Muli Bold"/>
                <a:sym typeface="Muli Bold"/>
              </a:rPr>
              <a:t>Scalability:</a:t>
            </a:r>
            <a:r>
              <a:rPr lang="en-US" sz="24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 Supports horizontal scaling for growing data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305049"/>
                </a:solidFill>
                <a:latin typeface="Muli Bold"/>
                <a:ea typeface="Muli Bold"/>
                <a:cs typeface="Muli Bold"/>
                <a:sym typeface="Muli Bold"/>
              </a:rPr>
              <a:t>Microservice-Friendly Data Isolation:</a:t>
            </a:r>
            <a:r>
              <a:rPr lang="en-US" sz="24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 Each microservice maintains its own database hence loose coupling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646990" y="1029320"/>
            <a:ext cx="1526842" cy="763421"/>
          </a:xfrm>
          <a:custGeom>
            <a:avLst/>
            <a:gdLst/>
            <a:ahLst/>
            <a:cxnLst/>
            <a:rect l="l" t="t" r="r" b="b"/>
            <a:pathLst>
              <a:path w="1526842" h="763421">
                <a:moveTo>
                  <a:pt x="0" y="0"/>
                </a:moveTo>
                <a:lnTo>
                  <a:pt x="1526841" y="0"/>
                </a:lnTo>
                <a:lnTo>
                  <a:pt x="1526841" y="763420"/>
                </a:lnTo>
                <a:lnTo>
                  <a:pt x="0" y="763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92438" y="704759"/>
            <a:ext cx="10024736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63499" y="2117301"/>
            <a:ext cx="10915328" cy="241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Role-based dashboards (Customer, Technician, Admin)</a:t>
            </a:r>
          </a:p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Real-time email notifications</a:t>
            </a:r>
          </a:p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Modular microservices architecture</a:t>
            </a:r>
          </a:p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Clean UI with modern design</a:t>
            </a:r>
          </a:p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Scalable and maintainable backend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-2292062" y="6785816"/>
            <a:ext cx="7064180" cy="3532090"/>
          </a:xfrm>
          <a:custGeom>
            <a:avLst/>
            <a:gdLst/>
            <a:ahLst/>
            <a:cxnLst/>
            <a:rect l="l" t="t" r="r" b="b"/>
            <a:pathLst>
              <a:path w="7064180" h="3532090">
                <a:moveTo>
                  <a:pt x="0" y="0"/>
                </a:moveTo>
                <a:lnTo>
                  <a:pt x="7064180" y="0"/>
                </a:lnTo>
                <a:lnTo>
                  <a:pt x="7064180" y="3532090"/>
                </a:lnTo>
                <a:lnTo>
                  <a:pt x="0" y="3532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21163" y="5200650"/>
            <a:ext cx="9638137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 dirty="0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Challenges &amp; Learnings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2138" y="6325173"/>
            <a:ext cx="8107162" cy="193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Handling service-to-service communication</a:t>
            </a:r>
          </a:p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Designing scalable microservices</a:t>
            </a:r>
          </a:p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Integrating the frontend &amp; the backend</a:t>
            </a:r>
          </a:p>
          <a:p>
            <a:pPr marL="597665" lvl="1" indent="-298832" algn="l">
              <a:lnSpc>
                <a:spcPts val="3875"/>
              </a:lnSpc>
              <a:spcBef>
                <a:spcPct val="0"/>
              </a:spcBef>
              <a:buFont typeface="Arial"/>
              <a:buChar char="•"/>
            </a:pPr>
            <a:r>
              <a:rPr lang="en-US" sz="2768" dirty="0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Ensuring UI responsiveness and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1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096294" y="5716840"/>
            <a:ext cx="10383412" cy="5191706"/>
          </a:xfrm>
          <a:custGeom>
            <a:avLst/>
            <a:gdLst/>
            <a:ahLst/>
            <a:cxnLst/>
            <a:rect l="l" t="t" r="r" b="b"/>
            <a:pathLst>
              <a:path w="10383412" h="5191706">
                <a:moveTo>
                  <a:pt x="0" y="0"/>
                </a:moveTo>
                <a:lnTo>
                  <a:pt x="10383412" y="0"/>
                </a:lnTo>
                <a:lnTo>
                  <a:pt x="10383412" y="5191706"/>
                </a:lnTo>
                <a:lnTo>
                  <a:pt x="0" y="5191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95350"/>
            <a:ext cx="9409608" cy="1195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b="1" u="sng">
                <a:solidFill>
                  <a:srgbClr val="305049"/>
                </a:solidFill>
                <a:latin typeface="Muli Bold"/>
                <a:ea typeface="Muli Bold"/>
                <a:cs typeface="Muli Bold"/>
                <a:sym typeface="Muli Bold"/>
              </a:rPr>
              <a:t>Future Enhancements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44708"/>
            <a:ext cx="13049923" cy="546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Payment gateway integration (UPI, cards, wallets)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Automated invoice generation after service completion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Refund and cancellation handling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Advanced admin analytics dashboard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Revenue, service demand, and technician performance insights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Customer booking trends and peak time analysis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Technician approval &amp; verification dashboard for admins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Performance metrics and skill-based technician ranking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Rating &amp; Feedback System</a:t>
            </a: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Auto-assignment of technicians based on: Location/Availability/Skill match/Customer ratings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305049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5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22193" y="3202289"/>
            <a:ext cx="11043614" cy="3882422"/>
            <a:chOff x="0" y="0"/>
            <a:chExt cx="14724819" cy="5176562"/>
          </a:xfrm>
        </p:grpSpPr>
        <p:sp>
          <p:nvSpPr>
            <p:cNvPr id="3" name="TextBox 3"/>
            <p:cNvSpPr txBox="1"/>
            <p:nvPr/>
          </p:nvSpPr>
          <p:spPr>
            <a:xfrm>
              <a:off x="0" y="-152400"/>
              <a:ext cx="14724819" cy="1871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899"/>
                </a:lnSpc>
                <a:spcBef>
                  <a:spcPct val="0"/>
                </a:spcBef>
              </a:pPr>
              <a:r>
                <a:rPr lang="en-US" sz="8499" b="1" u="sng">
                  <a:solidFill>
                    <a:srgbClr val="EFD1A9"/>
                  </a:solidFill>
                  <a:latin typeface="Muli Bold"/>
                  <a:ea typeface="Muli Bold"/>
                  <a:cs typeface="Muli Bold"/>
                  <a:sym typeface="Muli Bold"/>
                </a:rPr>
                <a:t>Thank You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24476"/>
              <a:ext cx="14724819" cy="858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F1EEEE"/>
                  </a:solidFill>
                  <a:latin typeface="Muli"/>
                  <a:ea typeface="Muli"/>
                  <a:cs typeface="Muli"/>
                  <a:sym typeface="Muli"/>
                </a:rPr>
                <a:t>NexaHome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318041"/>
              <a:ext cx="14724819" cy="858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F1EEEE"/>
                  </a:solidFill>
                  <a:latin typeface="Muli"/>
                  <a:ea typeface="Muli"/>
                  <a:cs typeface="Muli"/>
                  <a:sym typeface="Muli"/>
                </a:rPr>
                <a:t>By : Nayna Bisht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-2303377" y="3896126"/>
            <a:ext cx="7059313" cy="2494747"/>
          </a:xfrm>
          <a:custGeom>
            <a:avLst/>
            <a:gdLst/>
            <a:ahLst/>
            <a:cxnLst/>
            <a:rect l="l" t="t" r="r" b="b"/>
            <a:pathLst>
              <a:path w="7059313" h="2494747">
                <a:moveTo>
                  <a:pt x="0" y="0"/>
                </a:moveTo>
                <a:lnTo>
                  <a:pt x="7059312" y="0"/>
                </a:lnTo>
                <a:lnTo>
                  <a:pt x="7059312" y="2494748"/>
                </a:lnTo>
                <a:lnTo>
                  <a:pt x="0" y="2494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1581" r="-68"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3510970" y="3896126"/>
            <a:ext cx="7059313" cy="2494747"/>
          </a:xfrm>
          <a:custGeom>
            <a:avLst/>
            <a:gdLst/>
            <a:ahLst/>
            <a:cxnLst/>
            <a:rect l="l" t="t" r="r" b="b"/>
            <a:pathLst>
              <a:path w="7059313" h="2494747">
                <a:moveTo>
                  <a:pt x="0" y="0"/>
                </a:moveTo>
                <a:lnTo>
                  <a:pt x="7059313" y="0"/>
                </a:lnTo>
                <a:lnTo>
                  <a:pt x="7059313" y="2494748"/>
                </a:lnTo>
                <a:lnTo>
                  <a:pt x="0" y="2494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1581" r="-6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497</Words>
  <Application>Microsoft Office PowerPoint</Application>
  <PresentationFormat>Custom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Arial</vt:lpstr>
      <vt:lpstr>Muli Semi-Bold</vt:lpstr>
      <vt:lpstr>Muli</vt:lpstr>
      <vt:lpstr>Muli Bold</vt:lpstr>
      <vt:lpstr>Muli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Management System</dc:title>
  <cp:lastModifiedBy>NAYNA BISHT</cp:lastModifiedBy>
  <cp:revision>7</cp:revision>
  <dcterms:created xsi:type="dcterms:W3CDTF">2006-08-16T00:00:00Z</dcterms:created>
  <dcterms:modified xsi:type="dcterms:W3CDTF">2026-01-09T11:29:42Z</dcterms:modified>
  <dc:identifier>DAG9qB2Byts</dc:identifier>
</cp:coreProperties>
</file>